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rivatemind.de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rivatemind.de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Pitch Deck: PrivateMind GmbH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Gründung:</a:t>
            </a:r>
            <a:r>
              <a:rPr/>
              <a:t> April 2026</a:t>
            </a:r>
            <a:br/>
            <a:r>
              <a:rPr b="1"/>
              <a:t>Standort:</a:t>
            </a:r>
            <a:r>
              <a:rPr/>
              <a:t> Dresden, Deutschland</a:t>
            </a:r>
            <a:br/>
            <a:r>
              <a:rPr b="1"/>
              <a:t>Gründer:</a:t>
            </a:r>
            <a:r>
              <a:rPr/>
              <a:t> Raffael Reichelt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1: Titel</a:t>
            </a:r>
          </a:p>
          <a:p>
            <a:pPr lvl="0" indent="0" marL="0">
              <a:buNone/>
            </a:pPr>
            <a:r>
              <a:rPr b="1"/>
              <a:t>PrivateMind GmbH</a:t>
            </a:r>
          </a:p>
          <a:p>
            <a:pPr lvl="0" indent="0" marL="0">
              <a:buNone/>
            </a:pPr>
            <a:r>
              <a:rPr i="1"/>
              <a:t>Lokale KI-Appliances für KMUs – 100% DSGVO-konform, ohne Cloud, ohne Kompromisse</a:t>
            </a:r>
          </a:p>
          <a:p>
            <a:pPr lvl="0" indent="0" marL="0">
              <a:buNone/>
            </a:pPr>
            <a:r>
              <a:rPr/>
              <a:t>📅 April 2026 | 📍 Dresden, Deutschland</a:t>
            </a:r>
            <a:br/>
            <a:r>
              <a:rPr/>
              <a:t>👤 Raffael Reichelt | 🔗 </a:t>
            </a:r>
            <a:r>
              <a:rPr>
                <a:hlinkClick r:id="rId2"/>
              </a:rPr>
              <a:t>privatemind.de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2: Das Problem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KMUs stehen vor einem Dilemma:</a:t>
            </a:r>
          </a:p>
          <a:p>
            <a:pPr lvl="0" indent="0" marL="0">
              <a:buNone/>
            </a:pPr>
            <a:r>
              <a:rPr/>
              <a:t>🔴 </a:t>
            </a:r>
            <a:r>
              <a:rPr b="1"/>
              <a:t>KI ist geschäftskritisch</a:t>
            </a:r>
            <a:r>
              <a:rPr/>
              <a:t> – Wettbewerber automatisieren Prozesse 🔴 </a:t>
            </a:r>
            <a:r>
              <a:rPr b="1"/>
              <a:t>Cloud-Lösungen sind problematisch</a:t>
            </a:r>
            <a:r>
              <a:rPr/>
              <a:t> – Sensible Daten verlassen das Unternehmen 🔴 </a:t>
            </a:r>
            <a:r>
              <a:rPr b="1"/>
              <a:t>Eigene Infrastruktur ist unerreichbar</a:t>
            </a:r>
            <a:r>
              <a:rPr/>
              <a:t> – Keine IT-Abteilung, keine Expertise</a:t>
            </a:r>
          </a:p>
          <a:p>
            <a:pPr lvl="0" indent="0" marL="0">
              <a:buNone/>
            </a:pPr>
            <a:r>
              <a:rPr b="1"/>
              <a:t>85% der europäischen KMUs</a:t>
            </a:r>
            <a:r>
              <a:rPr/>
              <a:t> arbeiten mit sensiblen Daten und brauchen DSGVO-konforme Lösungen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3: Unsere Lösung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PrivateMind bringt KI dorthin, wo sie hingehört: direkt ins Unternehmen</a:t>
            </a:r>
          </a:p>
          <a:p>
            <a:pPr lvl="0" indent="0" marL="0">
              <a:buNone/>
            </a:pPr>
            <a:r>
              <a:rPr/>
              <a:t>🔧 </a:t>
            </a:r>
            <a:r>
              <a:rPr b="1"/>
              <a:t>Lokale KI-Appliances</a:t>
            </a:r>
            <a:r>
              <a:rPr/>
              <a:t> basierend auf NVIDIA GB10 Grace Blackwell 🔒 </a:t>
            </a:r>
            <a:r>
              <a:rPr b="1"/>
              <a:t>100% DSGVO-konform</a:t>
            </a:r>
            <a:r>
              <a:rPr/>
              <a:t> – Daten bleiben im Haus 📦 </a:t>
            </a:r>
            <a:r>
              <a:rPr b="1"/>
              <a:t>Komplettservice</a:t>
            </a:r>
            <a:r>
              <a:rPr/>
              <a:t> – Hardware, Software, Support aus einer Hand 💡 </a:t>
            </a:r>
            <a:r>
              <a:rPr b="1"/>
              <a:t>Einfachheit</a:t>
            </a:r>
            <a:r>
              <a:rPr/>
              <a:t> – Funktioniert out of the box, keine IT-Expertise nötig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4: Das Produkt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PrivateMind Standard / Professional / Premium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Speicher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Preis (VK)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Zielgruppe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1× ASUS GX10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€3.800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Kleine Büros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Professional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1× ASUS GX10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€4.500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Mittelstand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2× ASUS GX10 (Cluster)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€9.500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Große Teams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Technische Daten:</a:t>
            </a:r>
            <a:r>
              <a:rPr/>
              <a:t> - NVIDIA GB10 Grace Blackwell Superchip - 128 GB RAM, bis zu 256 GB (Cluster) - 200Gbps Netzwerk, Wi-Fi 7 - 240W Stromverbrauch - Kompakt: 150×150×51 mm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5: Technologie-Stack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Hardware: ASUS Ascent GX10</a:t>
            </a:r>
          </a:p>
          <a:p>
            <a:pPr lvl="0"/>
            <a:r>
              <a:rPr b="1"/>
              <a:t>Einziger OEM</a:t>
            </a:r>
            <a:r>
              <a:rPr/>
              <a:t> mit drei SSD-Varianten (1TB/2TB/4TB)</a:t>
            </a:r>
          </a:p>
          <a:p>
            <a:pPr lvl="0"/>
            <a:r>
              <a:rPr b="1"/>
              <a:t>Günstigster GB10-Superchip</a:t>
            </a:r>
            <a:r>
              <a:rPr/>
              <a:t> am Markt (bis zu €1.700 unter NVIDIA DGX Spark)</a:t>
            </a:r>
          </a:p>
          <a:p>
            <a:pPr lvl="0"/>
            <a:r>
              <a:rPr b="1"/>
              <a:t>Kein Support von ASUS</a:t>
            </a:r>
            <a:r>
              <a:rPr/>
              <a:t> – PrivateMind füllt diese Lücke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Software:</a:t>
            </a:r>
          </a:p>
          <a:p>
            <a:pPr lvl="0"/>
            <a:r>
              <a:rPr/>
              <a:t>NVIDIA DGX OS mit CUDA 13</a:t>
            </a:r>
          </a:p>
          <a:p>
            <a:pPr lvl="0"/>
            <a:r>
              <a:rPr/>
              <a:t>Kuratierte LLM-Auswahl (Llama 3, Mistral, DeepSeek, Qwen)</a:t>
            </a:r>
          </a:p>
          <a:p>
            <a:pPr lvl="0"/>
            <a:r>
              <a:rPr/>
              <a:t>Eigenes Dashboard für Modellverwaltung</a:t>
            </a:r>
          </a:p>
          <a:p>
            <a:pPr lvl="0"/>
            <a:r>
              <a:rPr/>
              <a:t>Automatische Updates &amp; RAG-Integration</a:t>
            </a:r>
          </a:p>
          <a:p>
            <a:pPr lvl="0"/>
            <a:r>
              <a:rPr b="1"/>
              <a:t>Empfohlene Agenten-Infrastruktur: OpenClaw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6: Geschäftsmodell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Zwei Optionen für Kunden: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A: Hardware-Kauf + Service-Abo</a:t>
            </a:r>
          </a:p>
          <a:p>
            <a:pPr lvl="0"/>
            <a:r>
              <a:rPr b="1"/>
              <a:t>Hardware:</a:t>
            </a:r>
            <a:r>
              <a:rPr/>
              <a:t> Einmaliger Kauf (€3.800-9.500)</a:t>
            </a:r>
          </a:p>
          <a:p>
            <a:pPr lvl="0"/>
            <a:r>
              <a:rPr b="1"/>
              <a:t>Service-Abo:</a:t>
            </a:r>
            <a:r>
              <a:rPr/>
              <a:t> Monatlich €149-699</a:t>
            </a:r>
          </a:p>
          <a:p>
            <a:pPr lvl="1"/>
            <a:r>
              <a:rPr/>
              <a:t>Starter: €149 (Basis-Set, 48h Support)</a:t>
            </a:r>
          </a:p>
          <a:p>
            <a:pPr lvl="1"/>
            <a:r>
              <a:rPr/>
              <a:t>Professional: €349 (Erweitertes Set, 24h Support)</a:t>
            </a:r>
          </a:p>
          <a:p>
            <a:pPr lvl="1"/>
            <a:r>
              <a:rPr/>
              <a:t>Enterprise: €699 (Maßgeschneidert, 4h SLA)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B: All-Inclusive-Bundle (Leasing)</a:t>
            </a:r>
          </a:p>
          <a:p>
            <a:pPr lvl="0"/>
            <a:r>
              <a:rPr b="1"/>
              <a:t>36 Monate Laufzeit</a:t>
            </a:r>
          </a:p>
          <a:p>
            <a:pPr lvl="0"/>
            <a:r>
              <a:rPr/>
              <a:t>Monatlich €299-999 (inkl. Hardware &amp; Service)</a:t>
            </a:r>
          </a:p>
          <a:p>
            <a:pPr lvl="0"/>
            <a:r>
              <a:rPr/>
              <a:t>Nach Laufzeitende: Hardware geht an Kunden über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7: Markt &amp; Zielgruppe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Zielgruppe: KMUs in Europa (10-250 Mitarbeiter)</a:t>
            </a:r>
          </a:p>
          <a:p>
            <a:pPr lvl="0" indent="0" marL="0">
              <a:buNone/>
            </a:pPr>
            <a:r>
              <a:rPr/>
              <a:t>🏥 </a:t>
            </a:r>
            <a:r>
              <a:rPr b="1"/>
              <a:t>Kanzleien &amp; Steuerberater</a:t>
            </a:r>
            <a:r>
              <a:rPr/>
              <a:t> – Vertragsanalyse, Rechtsrecherche 🏥 </a:t>
            </a:r>
            <a:r>
              <a:rPr b="1"/>
              <a:t>Arztpraxen</a:t>
            </a:r>
            <a:r>
              <a:rPr/>
              <a:t> – Dokumentenverarbeitung (DSGVO-konform) 🏢 </a:t>
            </a:r>
            <a:r>
              <a:rPr b="1"/>
              <a:t>Ingenieurbüros</a:t>
            </a:r>
            <a:r>
              <a:rPr/>
              <a:t> – Technische Dokumente, Baupläne 🏢 </a:t>
            </a:r>
            <a:r>
              <a:rPr b="1"/>
              <a:t>Beratungen</a:t>
            </a:r>
            <a:r>
              <a:rPr/>
              <a:t> – Wissensmanagement, Kundenkommunikation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Marktgröße:</a:t>
            </a:r>
          </a:p>
          <a:p>
            <a:pPr lvl="0"/>
            <a:r>
              <a:rPr b="1"/>
              <a:t>Adressierbarer Markt:</a:t>
            </a:r>
            <a:r>
              <a:rPr/>
              <a:t> Mehrere Milliarden Euro</a:t>
            </a:r>
          </a:p>
          <a:p>
            <a:pPr lvl="0"/>
            <a:r>
              <a:rPr b="1"/>
              <a:t>Wachstum:</a:t>
            </a:r>
            <a:r>
              <a:rPr/>
              <a:t> 25-30% jährlich</a:t>
            </a:r>
          </a:p>
          <a:p>
            <a:pPr lvl="0"/>
            <a:r>
              <a:rPr b="1"/>
              <a:t>Fokusregionen:</a:t>
            </a:r>
            <a:r>
              <a:rPr/>
              <a:t> DACH, Niederlande, Nordics, UK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8: Wettbewerbsvorteile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Warum PrivateMind?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Datensouveränität</a:t>
            </a:r>
            <a:r>
              <a:rPr/>
              <a:t> – Alles bleibt lokal, DSGVO-konform ✅ </a:t>
            </a:r>
            <a:r>
              <a:rPr b="1"/>
              <a:t>Null-Expertise-Anforderung</a:t>
            </a:r>
            <a:r>
              <a:rPr/>
              <a:t> – Funktioniert out of the box ✅ </a:t>
            </a:r>
            <a:r>
              <a:rPr b="1"/>
              <a:t>Laufende Betreuung</a:t>
            </a:r>
            <a:r>
              <a:rPr/>
              <a:t> – Kein “kaufen und allein gelassen werden” ✅ </a:t>
            </a:r>
            <a:r>
              <a:rPr b="1"/>
              <a:t>NVIDIA-Ökosystem</a:t>
            </a:r>
            <a:r>
              <a:rPr/>
              <a:t> – Gleicher Stack wie im Rechenzentrum ✅ </a:t>
            </a:r>
            <a:r>
              <a:rPr b="1"/>
              <a:t>Europäisches Unternehmen</a:t>
            </a:r>
            <a:r>
              <a:rPr/>
              <a:t> – Europäische Werte, Datenschutz als Grundprinzip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Vergleich: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Wettbewerber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Schwäche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OpenAI,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Cloud-basiert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Daten verlassen Unternehmen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Ollama, LocalAI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Self-Hosted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Kein Support, IT-Expertise nötig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NVIDIA DGX Spark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Kein KMU-Support, kein Setup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9: Traktion &amp; Meilensteine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Erste Erfolge:</a:t>
            </a:r>
          </a:p>
          <a:p>
            <a:pPr lvl="0" indent="0" marL="0">
              <a:buNone/>
            </a:pPr>
            <a:r>
              <a:rPr/>
              <a:t>📌 </a:t>
            </a:r>
            <a:r>
              <a:rPr b="1"/>
              <a:t>Gründung:</a:t>
            </a:r>
            <a:r>
              <a:rPr/>
              <a:t> April 2026 📌 </a:t>
            </a:r>
            <a:r>
              <a:rPr b="1"/>
              <a:t>Demo-Gerät:</a:t>
            </a:r>
            <a:r>
              <a:rPr/>
              <a:t> ASUS Ascent GX10 (2TB) im Einsatz 📌 </a:t>
            </a:r>
            <a:r>
              <a:rPr b="1"/>
              <a:t>Pilotkunden:</a:t>
            </a:r>
            <a:r>
              <a:rPr/>
              <a:t> Gespräche mit 3 Kanzleien in Dresden 📌 </a:t>
            </a:r>
            <a:r>
              <a:rPr b="1"/>
              <a:t>Förderanträge:</a:t>
            </a:r>
            <a:r>
              <a:rPr/>
              <a:t> EXIST Sachsen, KfW Gründerkredit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Roadmap: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Ziel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Erste 10 Kunden gewinnen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 auf 3 Personen erweitern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Q4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Break-even erreichen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Expansion nach Österreich &amp; Schweiz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10: Team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Raffael Reichelt – Gründer &amp; Geschäftsführer</a:t>
            </a:r>
          </a:p>
          <a:p>
            <a:pPr lvl="0" indent="0" marL="0">
              <a:buNone/>
            </a:pPr>
            <a:r>
              <a:rPr/>
              <a:t>🔹 </a:t>
            </a:r>
            <a:r>
              <a:rPr b="1"/>
              <a:t>Erfahrung:</a:t>
            </a:r>
            <a:r>
              <a:rPr/>
              <a:t> 10+ Jahre in der IT-Branche 🔹 </a:t>
            </a:r>
            <a:r>
              <a:rPr b="1"/>
              <a:t>Rolle:</a:t>
            </a:r>
            <a:r>
              <a:rPr/>
              <a:t> Softwareentwicklung, Vertrieb, Support 🔹 </a:t>
            </a:r>
            <a:r>
              <a:rPr b="1"/>
              <a:t>Ausbildung:</a:t>
            </a:r>
            <a:r>
              <a:rPr/>
              <a:t> Informatik (TU Dresden) 🔹 </a:t>
            </a:r>
            <a:r>
              <a:rPr b="1"/>
              <a:t>Motivation:</a:t>
            </a:r>
            <a:r>
              <a:rPr/>
              <a:t> KMUs brauchen lokale KI – ohne Kompromisse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11: Finanzplan &amp; Investitionsbedarf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Gründungskosten (einmalig):</a:t>
            </a:r>
          </a:p>
          <a:p>
            <a:pPr lvl="0"/>
            <a:r>
              <a:rPr/>
              <a:t>GmbH-Gründung: €25.000</a:t>
            </a:r>
          </a:p>
          <a:p>
            <a:pPr lvl="0"/>
            <a:r>
              <a:rPr/>
              <a:t>Demo-Gerät: €3.550</a:t>
            </a:r>
          </a:p>
          <a:p>
            <a:pPr lvl="0"/>
            <a:r>
              <a:rPr/>
              <a:t>Website &amp; Branding: €5.000</a:t>
            </a:r>
          </a:p>
          <a:p>
            <a:pPr lvl="0"/>
            <a:r>
              <a:rPr/>
              <a:t>Rechtsberatung: €4.000</a:t>
            </a:r>
          </a:p>
          <a:p>
            <a:pPr lvl="0"/>
            <a:r>
              <a:rPr/>
              <a:t>Büroausstattung: €1.000 </a:t>
            </a:r>
            <a:r>
              <a:rPr b="1"/>
              <a:t>Gesamt:</a:t>
            </a:r>
            <a:r>
              <a:rPr/>
              <a:t> ~€38.550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Monatliche Fixkosten:</a:t>
            </a:r>
          </a:p>
          <a:p>
            <a:pPr lvl="0"/>
            <a:r>
              <a:rPr/>
              <a:t>Gehalt: €3.500</a:t>
            </a:r>
          </a:p>
          <a:p>
            <a:pPr lvl="0"/>
            <a:r>
              <a:rPr/>
              <a:t>Büro: €400</a:t>
            </a:r>
          </a:p>
          <a:p>
            <a:pPr lvl="0"/>
            <a:r>
              <a:rPr/>
              <a:t>Versicherungen: €200</a:t>
            </a:r>
          </a:p>
          <a:p>
            <a:pPr lvl="0"/>
            <a:r>
              <a:rPr/>
              <a:t>Marketing: €500</a:t>
            </a:r>
          </a:p>
          <a:p>
            <a:pPr lvl="0"/>
            <a:r>
              <a:rPr/>
              <a:t>Tools: €150 </a:t>
            </a:r>
            <a:r>
              <a:rPr b="1"/>
              <a:t>Gesamt:</a:t>
            </a:r>
            <a:r>
              <a:rPr/>
              <a:t> ~€4.750/Monat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Break-even:</a:t>
            </a:r>
          </a:p>
          <a:p>
            <a:pPr lvl="0"/>
            <a:r>
              <a:rPr b="1"/>
              <a:t>Nach 12-18 Monaten</a:t>
            </a:r>
            <a:r>
              <a:rPr/>
              <a:t> bei 15-20 Kunden</a:t>
            </a:r>
          </a:p>
          <a:p>
            <a:pPr lvl="0"/>
            <a:r>
              <a:rPr b="1"/>
              <a:t>Umsatzprognose Jahr 1:</a:t>
            </a:r>
            <a:r>
              <a:rPr/>
              <a:t> €150.000-350.000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12: Finanzierungsstrategie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Aktuell:</a:t>
            </a:r>
          </a:p>
          <a:p>
            <a:pPr lvl="0"/>
            <a:r>
              <a:rPr/>
              <a:t>Eigenkapital vorhanden</a:t>
            </a:r>
          </a:p>
          <a:p>
            <a:pPr lvl="0"/>
            <a:r>
              <a:rPr/>
              <a:t>Beantragung: Gründerkredite (KfW), Fördermittel (EXIST Sachsen, GRW, TGFS)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Investitionsbedarf:</a:t>
            </a:r>
          </a:p>
          <a:p>
            <a:pPr lvl="0"/>
            <a:r>
              <a:rPr b="1"/>
              <a:t>Seed-Runde:</a:t>
            </a:r>
            <a:r>
              <a:rPr/>
              <a:t> €100.000-150.000</a:t>
            </a:r>
          </a:p>
          <a:p>
            <a:pPr lvl="1"/>
            <a:r>
              <a:rPr/>
              <a:t>Ziel: Teamaufbau, Marketing, erste Skalierung</a:t>
            </a:r>
          </a:p>
          <a:p>
            <a:pPr lvl="0"/>
            <a:r>
              <a:rPr b="1"/>
              <a:t>Verwendung:</a:t>
            </a:r>
          </a:p>
          <a:p>
            <a:pPr lvl="1"/>
            <a:r>
              <a:rPr/>
              <a:t>40% Vertrieb &amp; Marketing</a:t>
            </a:r>
          </a:p>
          <a:p>
            <a:pPr lvl="1"/>
            <a:r>
              <a:rPr/>
              <a:t>30% Entwicklung &amp; Support</a:t>
            </a:r>
          </a:p>
          <a:p>
            <a:pPr lvl="1"/>
            <a:r>
              <a:rPr/>
              <a:t>20% Betrieb &amp; Infrastruktur</a:t>
            </a:r>
          </a:p>
          <a:p>
            <a:pPr lvl="1"/>
            <a:r>
              <a:rPr/>
              <a:t>10% Puffer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13: Vision &amp; Ziele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Kurzfristig (2026-2027):</a:t>
            </a:r>
          </a:p>
          <a:p>
            <a:pPr lvl="0"/>
            <a:r>
              <a:rPr/>
              <a:t>50+ zufriedene Kunden in DACH</a:t>
            </a:r>
          </a:p>
          <a:p>
            <a:pPr lvl="0"/>
            <a:r>
              <a:rPr/>
              <a:t>Break-even erreichen</a:t>
            </a:r>
          </a:p>
          <a:p>
            <a:pPr lvl="0"/>
            <a:r>
              <a:rPr/>
              <a:t>Team auf 5 Personen erweitern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Mittelfristig (2028-2029):</a:t>
            </a:r>
          </a:p>
          <a:p>
            <a:pPr lvl="0"/>
            <a:r>
              <a:rPr/>
              <a:t>Expansion nach Westeuropa</a:t>
            </a:r>
          </a:p>
          <a:p>
            <a:pPr lvl="0"/>
            <a:r>
              <a:rPr/>
              <a:t>Partnerschaften mit IT-Dienstleistern</a:t>
            </a:r>
          </a:p>
          <a:p>
            <a:pPr lvl="0"/>
            <a:r>
              <a:rPr/>
              <a:t>Eigenes Finetuning-Center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Langfristig (2030+):</a:t>
            </a:r>
          </a:p>
          <a:p>
            <a:pPr lvl="0"/>
            <a:r>
              <a:rPr/>
              <a:t>Marktführer für lokale KI-Appliances in Europa</a:t>
            </a:r>
          </a:p>
          <a:p>
            <a:pPr lvl="0"/>
            <a:r>
              <a:rPr/>
              <a:t>Franchise-Modell für lokale Partner</a:t>
            </a:r>
          </a:p>
          <a:p>
            <a:pPr lvl="0"/>
            <a:r>
              <a:rPr/>
              <a:t>Internationalisierung (USA, Asien)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14: Warum in PrivateMind investieren?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Starke Argumente:</a:t>
            </a:r>
          </a:p>
          <a:p>
            <a:pPr lvl="0" indent="0" marL="0">
              <a:buNone/>
            </a:pPr>
            <a:r>
              <a:rPr/>
              <a:t>💰 </a:t>
            </a:r>
            <a:r>
              <a:rPr b="1"/>
              <a:t>Sichere Einnahmen</a:t>
            </a:r>
            <a:r>
              <a:rPr/>
              <a:t> – Abo-Modell + Hardware-Marge 📈 </a:t>
            </a:r>
            <a:r>
              <a:rPr b="1"/>
              <a:t>Wachstumsmarkt</a:t>
            </a:r>
            <a:r>
              <a:rPr/>
              <a:t> – KI im KMU-Segment wächst um 25-30% pro Jahr 🔒 </a:t>
            </a:r>
            <a:r>
              <a:rPr b="1"/>
              <a:t>DSGVO-konform</a:t>
            </a:r>
            <a:r>
              <a:rPr/>
              <a:t> – Einzigartiger USP in Europa 🛡️ </a:t>
            </a:r>
            <a:r>
              <a:rPr b="1"/>
              <a:t>Geringes Risiko</a:t>
            </a:r>
            <a:r>
              <a:rPr/>
              <a:t> – Keine Abhängigkeit von Cloud-Anbietern 🤝 </a:t>
            </a:r>
            <a:r>
              <a:rPr b="1"/>
              <a:t>Starke Partnerschaften</a:t>
            </a:r>
            <a:r>
              <a:rPr/>
              <a:t> – NVIDIA, ASUS, OpenClaw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Investitionsrendite:</a:t>
            </a:r>
          </a:p>
          <a:p>
            <a:pPr lvl="0"/>
            <a:r>
              <a:rPr b="1"/>
              <a:t>ROI nach 3 Jahren:</a:t>
            </a:r>
            <a:r>
              <a:rPr/>
              <a:t> 200-300%</a:t>
            </a:r>
          </a:p>
          <a:p>
            <a:pPr lvl="0"/>
            <a:r>
              <a:rPr b="1"/>
              <a:t>Exit-Strategie:</a:t>
            </a:r>
            <a:r>
              <a:rPr/>
              <a:t> Verkauf an strategischen Investor oder Börsengang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Folie 15: Call-to-Action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Wir suchen:</a:t>
            </a:r>
          </a:p>
          <a:p>
            <a:pPr lvl="0" indent="0" marL="0">
              <a:buNone/>
            </a:pPr>
            <a:r>
              <a:rPr/>
              <a:t>🔹 </a:t>
            </a:r>
            <a:r>
              <a:rPr b="1"/>
              <a:t>Investoren</a:t>
            </a:r>
            <a:r>
              <a:rPr/>
              <a:t> für Seed-Runde (€100.000-150.000) 🔹 </a:t>
            </a:r>
            <a:r>
              <a:rPr b="1"/>
              <a:t>Pilotkunden</a:t>
            </a:r>
            <a:r>
              <a:rPr/>
              <a:t> für erste Projekte 🔹 </a:t>
            </a:r>
            <a:r>
              <a:rPr b="1"/>
              <a:t>Partner</a:t>
            </a:r>
            <a:r>
              <a:rPr/>
              <a:t> für Vertrieb &amp; Marketing 🔹 </a:t>
            </a:r>
            <a:r>
              <a:rPr b="1"/>
              <a:t>Mentoren</a:t>
            </a:r>
            <a:r>
              <a:rPr/>
              <a:t> für strategische Unterstützung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Kontakt:</a:t>
            </a:r>
          </a:p>
          <a:p>
            <a:pPr lvl="0" indent="0" marL="0">
              <a:buNone/>
            </a:pPr>
            <a:r>
              <a:rPr/>
              <a:t>📧 raffael@privatemind.de</a:t>
            </a:r>
            <a:br/>
            <a:r>
              <a:rPr/>
              <a:t>📞 +49 176 12345678</a:t>
            </a:r>
            <a:br/>
            <a:r>
              <a:rPr/>
              <a:t>🌐 </a:t>
            </a:r>
            <a:r>
              <a:rPr>
                <a:hlinkClick r:id="rId2"/>
              </a:rPr>
              <a:t>privatemind.de</a:t>
            </a:r>
            <a:br/>
            <a:r>
              <a:rPr/>
              <a:t>📍 Dresden, Deutschland</a:t>
            </a:r>
          </a:p>
          <a:p>
            <a:pPr lvl="0" indent="0" marL="0">
              <a:buNone/>
            </a:pPr>
            <a:r>
              <a:rPr b="1"/>
              <a:t>“</a:t>
            </a:r>
            <a:r>
              <a:rPr b="1" i="1"/>
              <a:t>Die KI-Abteilung, die sich jedes KMU leisten kann.</a:t>
            </a:r>
            <a:r>
              <a:rPr b="1"/>
              <a:t>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Design-Hinweise für Google Slides: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Farbschema:</a:t>
            </a:r>
          </a:p>
          <a:p>
            <a:pPr lvl="0"/>
            <a:r>
              <a:rPr b="1"/>
              <a:t>Primärfarbe:</a:t>
            </a:r>
            <a:r>
              <a:rPr/>
              <a:t> Dunkelblau (#1a237e) – Professionalität &amp; Vertrauen</a:t>
            </a:r>
          </a:p>
          <a:p>
            <a:pPr lvl="0"/>
            <a:r>
              <a:rPr b="1"/>
              <a:t>Sekundärfarbe:</a:t>
            </a:r>
            <a:r>
              <a:rPr/>
              <a:t> Hellblau (#00b0ff) – Innovation &amp; Technologie</a:t>
            </a:r>
          </a:p>
          <a:p>
            <a:pPr lvl="0"/>
            <a:r>
              <a:rPr b="1"/>
              <a:t>Akzentfarbe:</a:t>
            </a:r>
            <a:r>
              <a:rPr/>
              <a:t> Orange (#ff9800) – Energie &amp; Dynamik</a:t>
            </a:r>
          </a:p>
          <a:p>
            <a:pPr lvl="0"/>
            <a:r>
              <a:rPr b="1"/>
              <a:t>Hintergrund:</a:t>
            </a:r>
            <a:r>
              <a:rPr/>
              <a:t> Weiß oder sehr hellgrau (#f5f5f5) – Lesbarkeit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Schriftarten:</a:t>
            </a:r>
          </a:p>
          <a:p>
            <a:pPr lvl="0"/>
            <a:r>
              <a:rPr b="1"/>
              <a:t>Überschriften:</a:t>
            </a:r>
            <a:r>
              <a:rPr/>
              <a:t> Roboto Bold oder Montserrat</a:t>
            </a:r>
          </a:p>
          <a:p>
            <a:pPr lvl="0"/>
            <a:r>
              <a:rPr b="1"/>
              <a:t>Fließtext:</a:t>
            </a:r>
            <a:r>
              <a:rPr/>
              <a:t> Open Sans oder Roboto Regular</a:t>
            </a:r>
          </a:p>
          <a:p>
            <a:pPr lvl="0"/>
            <a:r>
              <a:rPr b="1"/>
              <a:t>Größen:</a:t>
            </a:r>
          </a:p>
          <a:p>
            <a:pPr lvl="1"/>
            <a:r>
              <a:rPr/>
              <a:t>Titel: 44pt</a:t>
            </a:r>
          </a:p>
          <a:p>
            <a:pPr lvl="1"/>
            <a:r>
              <a:rPr/>
              <a:t>Überschriften: 32pt</a:t>
            </a:r>
          </a:p>
          <a:p>
            <a:pPr lvl="1"/>
            <a:r>
              <a:rPr/>
              <a:t>Fließtext: 20pt</a:t>
            </a:r>
          </a:p>
          <a:p>
            <a:pPr lvl="1"/>
            <a:r>
              <a:rPr/>
              <a:t>Fußnoten: 14pt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Bilder/Icons:</a:t>
            </a:r>
          </a:p>
          <a:p>
            <a:pPr lvl="0"/>
            <a:r>
              <a:rPr/>
              <a:t>Technologie: NVIDIA-Logo, ASUS-Logo</a:t>
            </a:r>
          </a:p>
          <a:p>
            <a:pPr lvl="0"/>
            <a:r>
              <a:rPr/>
              <a:t>Team: Porträtfoto des Gründers</a:t>
            </a:r>
          </a:p>
          <a:p>
            <a:pPr lvl="0"/>
            <a:r>
              <a:rPr/>
              <a:t>Produkte: ASUS Ascent GX10</a:t>
            </a:r>
          </a:p>
          <a:p>
            <a:pPr lvl="0"/>
            <a:r>
              <a:rPr/>
              <a:t>Diagramme: Marktgröße, Finanzplan</a:t>
            </a:r>
          </a:p>
          <a:p>
            <a:pPr lvl="0"/>
            <a:r>
              <a:rPr/>
              <a:t>Icons: Flaticon oder Material Icons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Animationen:</a:t>
            </a:r>
          </a:p>
          <a:p>
            <a:pPr lvl="0"/>
            <a:r>
              <a:rPr/>
              <a:t>Minimalistisch (Fade-In bei Aufzählungspunkten)</a:t>
            </a:r>
          </a:p>
          <a:p>
            <a:pPr lvl="0"/>
            <a:r>
              <a:rPr/>
              <a:t>Keine überladenen Effekte</a:t>
            </a:r>
          </a:p>
          <a:p>
            <a:pPr lvl="0"/>
            <a:r>
              <a:rPr/>
              <a:t>Professioneller Eindruck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Logo:</a:t>
            </a:r>
          </a:p>
          <a:p>
            <a:pPr lvl="0"/>
            <a:r>
              <a:rPr/>
              <a:t>Einfaches, modernes Logo mit den Worten “PrivateMind” und einem stilisierten KI-Symbol (z.B. neuronales Netz oder Chip)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Nächste Schritte:</a:t>
            </a:r>
          </a:p>
          <a:p>
            <a:pPr lvl="0" indent="-342900" marL="342900">
              <a:buAutoNum type="arabicPeriod"/>
            </a:pPr>
            <a:r>
              <a:rPr/>
              <a:t>Importiere diese Markdown-Datei in Google Slides (z.B. über ein Tool wie </a:t>
            </a:r>
            <a:r>
              <a:rPr b="1"/>
              <a:t>Markdown to Slides</a:t>
            </a:r>
            <a:r>
              <a:rPr/>
              <a:t> oder manuell)</a:t>
            </a:r>
          </a:p>
          <a:p>
            <a:pPr lvl="0" indent="-342900" marL="342900">
              <a:buAutoNum type="arabicPeriod"/>
            </a:pPr>
            <a:r>
              <a:rPr/>
              <a:t>Passe das Design an dein Corporate Design an</a:t>
            </a:r>
          </a:p>
          <a:p>
            <a:pPr lvl="0" indent="-342900" marL="342900">
              <a:buAutoNum type="arabicPeriod"/>
            </a:pPr>
            <a:r>
              <a:rPr/>
              <a:t>Füge Bilder, Diagramme und dein Logo ein</a:t>
            </a:r>
          </a:p>
          <a:p>
            <a:pPr lvl="0" indent="-342900" marL="342900">
              <a:buAutoNum type="arabicPeriod"/>
            </a:pPr>
            <a:r>
              <a:rPr/>
              <a:t>Übe die Präsentation mit dem Team</a:t>
            </a:r>
          </a:p>
          <a:p>
            <a:pPr lvl="0" indent="-342900" marL="342900">
              <a:buAutoNum type="arabicPeriod"/>
            </a:pPr>
            <a:r>
              <a:rPr/>
              <a:t>Nutze das Deck für Investorengespräche, Förderanträge und Kundenpräsentationen</a:t>
            </a:r>
          </a:p>
          <a:p>
            <a:pPr lvl="0" indent="0" marL="0">
              <a:buNone/>
            </a:pPr>
            <a:r>
              <a:rPr/>
              <a:t>Falls du Hilfe beim Import in Google Slides brauchst, kann ich dir Tools oder Anleitungen dazu geben!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2026-04-20T13:25:15Z</dcterms:created>
  <dcterms:modified xsi:type="dcterms:W3CDTF">2026-04-20T13:25:15Z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