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9" Type="http://schemas.openxmlformats.org/officeDocument/2006/relationships/viewProps" Target="viewProps.xml" /><Relationship Id="rId1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1" Type="http://schemas.openxmlformats.org/officeDocument/2006/relationships/tableStyles" Target="tableStyles.xml" /><Relationship Id="rId2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342900" indent="0" algn="ctr">
              <a:buNone/>
              <a:defRPr>
                <a:solidFill>
                  <a:schemeClr val="bg1"/>
                </a:solidFill>
              </a:defRPr>
            </a:lvl2pPr>
            <a:lvl3pPr marL="685800" indent="0" algn="ctr">
              <a:buNone/>
              <a:defRPr>
                <a:solidFill>
                  <a:schemeClr val="bg1"/>
                </a:solidFill>
              </a:defRPr>
            </a:lvl3pPr>
            <a:lvl4pPr marL="1028700" indent="0" algn="ctr">
              <a:buNone/>
              <a:defRPr>
                <a:solidFill>
                  <a:schemeClr val="bg1"/>
                </a:solidFill>
              </a:defRPr>
            </a:lvl4pPr>
            <a:lvl5pPr marL="1371600" indent="0" algn="ctr">
              <a:buNone/>
              <a:defRPr>
                <a:solidFill>
                  <a:schemeClr val="bg1"/>
                </a:solidFill>
              </a:defRPr>
            </a:lvl5pPr>
            <a:lvl6pPr marL="1714500" indent="0" algn="ctr">
              <a:buNone/>
              <a:defRPr>
                <a:solidFill>
                  <a:schemeClr val="bg1"/>
                </a:solidFill>
              </a:defRPr>
            </a:lvl6pPr>
            <a:lvl7pPr marL="2057400" indent="0" algn="ctr">
              <a:buNone/>
              <a:defRPr>
                <a:solidFill>
                  <a:schemeClr val="bg1"/>
                </a:solidFill>
              </a:defRPr>
            </a:lvl7pPr>
            <a:lvl8pPr marL="2400300" indent="0" algn="ctr">
              <a:buNone/>
              <a:defRPr>
                <a:solidFill>
                  <a:schemeClr val="bg1"/>
                </a:solidFill>
              </a:defRPr>
            </a:lvl8pPr>
            <a:lvl9pPr marL="2743200" indent="0" algn="ctr">
              <a:buNone/>
              <a:defRPr>
                <a:solidFill>
                  <a:schemeClr val="bg1"/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accent3"/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Accent Bar"/>
          <p:cNvSpPr/>
          <p:nvPr/>
        </p:nvSpPr>
        <p:spPr>
          <a:xfrm>
            <a:off x="457200" y="1085000"/>
            <a:ext cx="1143000" cy="38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171450" indent="-171450">
              <a:buFont typeface="Arial" pitchFamily="34" charset="0"/>
              <a:buChar char="•"/>
              <a:defRPr sz="1050"/>
            </a:lvl1pPr>
            <a:lvl2pPr marL="514350" indent="-171450">
              <a:buFont typeface="Arial" pitchFamily="34" charset="0"/>
              <a:buChar char="•"/>
              <a:defRPr sz="900"/>
            </a:lvl2pPr>
            <a:lvl3pPr marL="857250" indent="-171450">
              <a:buFont typeface="Arial" pitchFamily="34" charset="0"/>
              <a:buChar char="•"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Accent Bar Caption"/>
          <p:cNvSpPr/>
          <p:nvPr/>
        </p:nvSpPr>
        <p:spPr>
          <a:xfrm>
            <a:off x="457201" y="1000000"/>
            <a:ext cx="800000" cy="38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privatemind.eu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privatemind.eu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PrivateMind GmbH — Pitch Deck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Lokale KI-Appliances für KMU – DSGVO-konform, ohne Cloud, ohne Kompromisse</a:t>
            </a:r>
            <a:br/>
            <a:br/>
            <a:r>
              <a:rPr/>
              <a:t>Raffael Reichelt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voraussichtlich September/Oktober 2026 · Dresden, Deutschland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Folie 1: Titel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PrivateMind GmbH</a:t>
            </a:r>
          </a:p>
          <a:p>
            <a:pPr lvl="0" indent="0" marL="0">
              <a:buNone/>
            </a:pPr>
            <a:r>
              <a:rPr i="1"/>
              <a:t>Lokale KI-Appliances für KMU – DSGVO-konform, ohne Cloud, ohne Kompromisse</a:t>
            </a:r>
          </a:p>
          <a:p>
            <a:pPr lvl="0" indent="0" marL="0">
              <a:buNone/>
            </a:pPr>
            <a:r>
              <a:rPr/>
              <a:t>September/Oktober 2026 (geplante Gründung) | Dresden, Deutschland</a:t>
            </a:r>
            <a:br/>
            <a:r>
              <a:rPr/>
              <a:t>Raffael Reichelt | </a:t>
            </a:r>
            <a:r>
              <a:rPr>
                <a:hlinkClick r:id="rId2"/>
              </a:rPr>
              <a:t>privatemind.eu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Folie 2: Das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KMU stehen vor einem Dilemma:</a:t>
            </a:r>
          </a:p>
          <a:p>
            <a:pPr lvl="0"/>
            <a:r>
              <a:rPr b="1"/>
              <a:t>KI ist geschäftskritisch</a:t>
            </a:r>
            <a:r>
              <a:rPr/>
              <a:t> – Wettbewerber automatisieren Prozesse</a:t>
            </a:r>
          </a:p>
          <a:p>
            <a:pPr lvl="0"/>
            <a:r>
              <a:rPr b="1"/>
              <a:t>Cloud-Lösungen sind problematisch</a:t>
            </a:r>
            <a:r>
              <a:rPr/>
              <a:t> – Sensible Daten verlassen das Unternehmen</a:t>
            </a:r>
          </a:p>
          <a:p>
            <a:pPr lvl="0"/>
            <a:r>
              <a:rPr b="1"/>
              <a:t>Eigene Infrastruktur ist unerreichbar</a:t>
            </a:r>
            <a:r>
              <a:rPr/>
              <a:t> – Keine IT-Abteilung, keine Expertise</a:t>
            </a:r>
          </a:p>
          <a:p>
            <a:pPr lvl="0" indent="0" marL="0">
              <a:buNone/>
            </a:pPr>
            <a:r>
              <a:rPr/>
              <a:t>Rund 45–55 % der europäischen KMU haben laut Bitkom/DSGVO-Befragungen Datenschutzbedenken bei Cloud-KI und brauchen DSGVO-konforme Lösungen.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Folie 3: Unsere Lösung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PrivateMind bringt KI dorthin, wo sie hingehört: direkt ins Unternehmen</a:t>
            </a:r>
          </a:p>
          <a:p>
            <a:pPr lvl="0"/>
            <a:r>
              <a:rPr b="1"/>
              <a:t>Lokale KI-Appliances</a:t>
            </a:r>
            <a:r>
              <a:rPr/>
              <a:t> basierend auf NVIDIA GB10 Grace Blackwell (ASUS Ascent GX10)</a:t>
            </a:r>
          </a:p>
          <a:p>
            <a:pPr lvl="0"/>
            <a:r>
              <a:rPr b="1"/>
              <a:t>DSGVO-konform</a:t>
            </a:r>
            <a:r>
              <a:rPr/>
              <a:t> – Daten bleiben im Haus</a:t>
            </a:r>
          </a:p>
          <a:p>
            <a:pPr lvl="0"/>
            <a:r>
              <a:rPr b="1"/>
              <a:t>Komplettservice</a:t>
            </a:r>
            <a:r>
              <a:rPr/>
              <a:t> – Hardware, Software, Support aus einer Hand</a:t>
            </a:r>
          </a:p>
          <a:p>
            <a:pPr lvl="0"/>
            <a:r>
              <a:rPr b="1"/>
              <a:t>Einfachheit</a:t>
            </a:r>
            <a:r>
              <a:rPr/>
              <a:t> – Funktioniert out of the box, keine IT-Expertise nötig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Folie 4: Das Produkt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Technische Basis</a:t>
            </a:r>
          </a:p>
          <a:p>
            <a:pPr lvl="0"/>
            <a:r>
              <a:rPr/>
              <a:t>NVIDIA GB10 Grace Blackwell Superchip, je Gerät 128 GB Unified Memory</a:t>
            </a:r>
          </a:p>
          <a:p>
            <a:pPr lvl="0"/>
            <a:r>
              <a:rPr/>
              <a:t>Standard/Professional: 1 Gerät, 128 GB — Premium: 2er-Cluster, 256 GB (bis 405B Parameter, 4-Bit)</a:t>
            </a:r>
          </a:p>
          <a:p>
            <a:pPr lvl="0"/>
            <a:r>
              <a:rPr/>
              <a:t>Kompakt: 150×150×51 mm pro Gerät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PrivateMind Standard / Professional / Premium / Enterprise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Hardware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Gleichzeitige Nutzer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Hardware-VK (netto)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Service-Abo (netto/Monat)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Standard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1× ASUS Ascent GX10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3–8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€3.800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€149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Professional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1× ASUS Ascent GX10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3–8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€4.500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€699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Premium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2× ASUS Ascent GX10 (Cluster)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8–20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€9.500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€699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Enterprise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ASUS ESC4000A-E12 / Dell R760xa (4× NVIDIA L40S)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20–100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€62.500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€1.999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Folie 5: Technologie-Stack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Hardware:</a:t>
            </a:r>
            <a:r>
              <a:rPr/>
              <a:t> ASUS Ascent GX10 — günstigste verfügbare GB10-Implementierung. Enterprise-Linie alternativ auf 2U-Rack (ASUS ESC4000A-E12 / Dell R760xa, 4× NVIDIA L40S)</a:t>
            </a:r>
          </a:p>
          <a:p>
            <a:pPr lvl="0" indent="0" marL="0">
              <a:buNone/>
            </a:pPr>
            <a:r>
              <a:rPr b="1"/>
              <a:t>Software:</a:t>
            </a:r>
          </a:p>
          <a:p>
            <a:pPr lvl="0"/>
            <a:r>
              <a:rPr/>
              <a:t>Kuratierte Modellauswahl (Llama 3.3 70B, DeepSeek-R1 70B, Qwen2.5 72B, Mistral Large)</a:t>
            </a:r>
          </a:p>
          <a:p>
            <a:pPr lvl="0"/>
            <a:r>
              <a:rPr/>
              <a:t>PrivateMind-Dashboard: Chat, Dokumenten-Upload, Modellverwaltung</a:t>
            </a:r>
          </a:p>
          <a:p>
            <a:pPr lvl="0"/>
            <a:r>
              <a:rPr/>
              <a:t>Laufende Updates, ab V2: RAG-Pipeline &amp; Audit-Log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Folie 6: Geschäftsmodell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Option A: Hardware-Kauf + Service-Abo (getrennt)</a:t>
            </a:r>
          </a:p>
          <a:p>
            <a:pPr lvl="0"/>
            <a:r>
              <a:rPr b="1"/>
              <a:t>Hardware:</a:t>
            </a:r>
            <a:r>
              <a:rPr/>
              <a:t> Einmaliger Kauf (€3.800–€62.500 je nach Tier)</a:t>
            </a:r>
          </a:p>
          <a:p>
            <a:pPr lvl="0"/>
            <a:r>
              <a:rPr b="1"/>
              <a:t>Service-Abo:</a:t>
            </a:r>
            <a:r>
              <a:rPr/>
              <a:t> Monatlich €149–€1.999 (Starter/Professional/Enterprise)</a:t>
            </a:r>
          </a:p>
          <a:p>
            <a:pPr lvl="0" indent="0" marL="0">
              <a:buNone/>
            </a:pPr>
            <a:r>
              <a:rPr b="1"/>
              <a:t>Option B: All-Inclusive-Bundle (Leasing)</a:t>
            </a:r>
          </a:p>
          <a:p>
            <a:pPr lvl="0"/>
            <a:r>
              <a:rPr/>
              <a:t>36–60 Monate, Hardware + Service als reine Betriebsausgabe</a:t>
            </a:r>
          </a:p>
          <a:p>
            <a:pPr lvl="0"/>
            <a:r>
              <a:rPr/>
              <a:t>Ohne Kapitalbindung, steuerlich attraktiv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Folie 7: Markt &amp; Zielgruppe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Zielgruppe: KMU in Europa, primär 10–50 Mitarbeiter</a:t>
            </a:r>
          </a:p>
          <a:p>
            <a:pPr lvl="0"/>
            <a:r>
              <a:rPr b="1"/>
              <a:t>Kanzleien &amp; Steuerberater</a:t>
            </a:r>
            <a:r>
              <a:rPr/>
              <a:t> – Mandanten-/Steuergeheimnis (§ 203 StGB, § 30 AO)</a:t>
            </a:r>
          </a:p>
          <a:p>
            <a:pPr lvl="0"/>
            <a:r>
              <a:rPr b="1"/>
              <a:t>Arztpraxen, Zahnarztpraxen, MVZ</a:t>
            </a:r>
            <a:r>
              <a:rPr/>
              <a:t> – Schweigepflicht, DSGVO</a:t>
            </a:r>
          </a:p>
          <a:p>
            <a:pPr lvl="0"/>
            <a:r>
              <a:rPr b="1"/>
              <a:t>Ingenieurbüros &amp; Architekten</a:t>
            </a:r>
            <a:r>
              <a:rPr/>
              <a:t> – NDA-Verpflichtungen</a:t>
            </a:r>
          </a:p>
          <a:p>
            <a:pPr lvl="0"/>
            <a:r>
              <a:rPr b="1"/>
              <a:t>Unternehmensberatungen</a:t>
            </a:r>
            <a:r>
              <a:rPr/>
              <a:t> – NDA, Mandantenvertrauen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Marktgröße (Stand Q1 2026):</a:t>
            </a:r>
          </a:p>
          <a:p>
            <a:pPr lvl="0"/>
            <a:r>
              <a:rPr/>
              <a:t>Geschätzter TAM lokale KI-Infrastruktur EU: &gt; 5 Mrd. € (eigene, konservative Berechnung)</a:t>
            </a:r>
          </a:p>
          <a:p>
            <a:pPr lvl="0"/>
            <a:r>
              <a:rPr/>
              <a:t>Wachstum europäischer KI-Markt: ~25–30 % CAGR (IDC, Gartner)</a:t>
            </a:r>
          </a:p>
          <a:p>
            <a:pPr lvl="0"/>
            <a:r>
              <a:rPr/>
              <a:t>Fokusregionen: DACH (Phase 1), Niederlande/Nordics/UK (Phase 2)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Folie 8: Wettbewerbsvorteile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Warum PrivateMind?</a:t>
            </a:r>
          </a:p>
          <a:p>
            <a:pPr lvl="0"/>
            <a:r>
              <a:rPr b="1"/>
              <a:t>Datensouveränität</a:t>
            </a:r>
            <a:r>
              <a:rPr/>
              <a:t> – alles bleibt lokal, DSGVO-konform out of the box</a:t>
            </a:r>
          </a:p>
          <a:p>
            <a:pPr lvl="0"/>
            <a:r>
              <a:rPr b="1"/>
              <a:t>Zero-Expertise-Betrieb</a:t>
            </a:r>
            <a:r>
              <a:rPr/>
              <a:t> – funktioniert out of the box</a:t>
            </a:r>
          </a:p>
          <a:p>
            <a:pPr lvl="0"/>
            <a:r>
              <a:rPr b="1"/>
              <a:t>Laufende Betreuung</a:t>
            </a:r>
            <a:r>
              <a:rPr/>
              <a:t> – Teil des Produkts, nicht Option</a:t>
            </a:r>
          </a:p>
          <a:p>
            <a:pPr lvl="0"/>
            <a:r>
              <a:rPr b="1"/>
              <a:t>NVIDIA-Ökosystem</a:t>
            </a:r>
            <a:r>
              <a:rPr/>
              <a:t> (CUDA/TensorRT-LLM) ohne Kompromisse bei Qualität</a:t>
            </a:r>
          </a:p>
          <a:p>
            <a:pPr lvl="0"/>
            <a:r>
              <a:rPr b="1"/>
              <a:t>Europäische Werte</a:t>
            </a:r>
            <a:r>
              <a:rPr/>
              <a:t> als Grundprinzip, nicht Marketingargument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Wettbewerber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Schwäche aus KMU-Sicht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PrivateMind-Vorteil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ChatGPT Enterprise / Copilot 365 / Gemini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Cloud-basiert, DSGVO-kritisch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Lokale Datenhaltung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Ollama / LocalAI / LM Studio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Kein Support-SLA, IT-Expertise nötig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Schlüsselfertig, Support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NVIDIA DGX Spark (direkt)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Kein Service, teurer als ASUS GX10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 + günstigere Hardware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Folie 9: Traktion &amp; Meilensteine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Stand heute:</a:t>
            </a:r>
          </a:p>
          <a:p>
            <a:pPr lvl="0"/>
            <a:r>
              <a:rPr b="1"/>
              <a:t>Demo-Gerät:</a:t>
            </a:r>
            <a:r>
              <a:rPr/>
              <a:t> ASUS Ascent GX10 (4 TB) bereits vorhanden und im Einsatz</a:t>
            </a:r>
          </a:p>
          <a:p>
            <a:pPr lvl="0"/>
            <a:r>
              <a:rPr b="1"/>
              <a:t>Website:</a:t>
            </a:r>
            <a:r>
              <a:rPr/>
              <a:t> auf Odoo 18.0 erstellt, Launch steht aus</a:t>
            </a:r>
          </a:p>
          <a:p>
            <a:pPr lvl="0"/>
            <a:r>
              <a:rPr b="1"/>
              <a:t>Förderanträge:</a:t>
            </a:r>
            <a:r>
              <a:rPr/>
              <a:t> Gründungszuschuss (§ 93 SGB III), InnoStartBonus Sachsen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Zeitraum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Ziel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GZ-Bewilligung, GmbH-Gründung (vorauss. Sept./Okt.), 3–5 Pilotkunden, mind. 2 zahlende Kunden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Englischsprachige Website live, europäische Expansion, Ziel: 10 aktive Kunden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Break-even operativ (~17–25 aktive Kunden), erste Mitarbeiter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Folie 10: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Raffael Reichelt – Gründer &amp; Geschäftsführer</a:t>
            </a:r>
          </a:p>
          <a:p>
            <a:pPr lvl="0"/>
            <a:r>
              <a:rPr b="1"/>
              <a:t>Erfahrung:</a:t>
            </a:r>
            <a:r>
              <a:rPr/>
              <a:t> über 30 Jahre Softwareentwicklung, Architektur, Projekt- und Teamleitung</a:t>
            </a:r>
          </a:p>
          <a:p>
            <a:pPr lvl="0"/>
            <a:r>
              <a:rPr b="1"/>
              <a:t>Stationen:</a:t>
            </a:r>
            <a:r>
              <a:rPr/>
              <a:t> 13 Jahre HSE24/hot networks AG (Head of IT Development Services), diverse Projekte, zuletzt ConfigPoint (bis 2026)</a:t>
            </a:r>
          </a:p>
          <a:p>
            <a:pPr lvl="0"/>
            <a:r>
              <a:rPr b="1"/>
              <a:t>Rollen:</a:t>
            </a:r>
            <a:r>
              <a:rPr/>
              <a:t> Entwickler, Architekt, Consultant, Projekt- &amp; Teamleiter, Technologieberater</a:t>
            </a:r>
          </a:p>
          <a:p>
            <a:pPr lvl="0"/>
            <a:r>
              <a:rPr b="1"/>
              <a:t>Motivation:</a:t>
            </a:r>
            <a:r>
              <a:rPr/>
              <a:t> KMU brauchen lokale KI – ohne Kompromisse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Folie 11: Finanzplan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Gründungskosten (einmalig): €6.700</a:t>
            </a:r>
            <a:r>
              <a:rPr/>
              <a:t> — Notar, Handelsregister, Rechts-/Steuerberatung, Marketing. Website &amp; Demo-Gerät bereits vorhanden, kein zusätzlicher Bedarf.</a:t>
            </a:r>
          </a:p>
          <a:p>
            <a:pPr lvl="0" indent="0" marL="0">
              <a:buNone/>
            </a:pPr>
            <a:r>
              <a:rPr b="1"/>
              <a:t>Monatliche Fixkosten: €11.500</a:t>
            </a:r>
            <a:r>
              <a:rPr/>
              <a:t> — davon €9.600 GF-Vollkosten (€5.000 netto Gründergehalt)</a:t>
            </a:r>
          </a:p>
          <a:p>
            <a:pPr lvl="0" indent="0" marL="0">
              <a:buNone/>
            </a:pPr>
            <a:r>
              <a:rPr b="1"/>
              <a:t>Break-even:</a:t>
            </a:r>
          </a:p>
          <a:p>
            <a:pPr lvl="0"/>
            <a:r>
              <a:rPr/>
              <a:t>Operativ ab ca. Q3 Jahr 2 bei ~17 Professional-Kunden bzw. 20–25 Mischkunden</a:t>
            </a:r>
          </a:p>
          <a:p>
            <a:pPr lvl="0"/>
            <a:r>
              <a:rPr/>
              <a:t>Umsatzprognose Jahr 1: €63.300 (konservativ) bis €180.100 (optimistisch)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Folie 12: Finanzierungsstrategie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Finanzierung: Stammkapital + Förderdarlehen, kein externer Investor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Betrag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Empfänger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Stammkapital (Eigenkapital)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€25.000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GmbH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KfW ERP-Gründerkredit StartGeld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€100.000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GmbH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SAB Mikrodarlehen Sachsen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€20.000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GmbH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Gesamt GmbH-Finanzierung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€145.000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Gründungszuschuss (15 Mo., ca.)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€16.500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Gründer persönlich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InnoStartBonus Sachsen (in Prüfung)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€12.600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Gründer persönlich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Kapitalbedarf Jahr 1 (gedeckt, Puffer €16.600)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€128.400 (ger. €129.000)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ohne Investor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Folie 13: Vision &amp; Ziele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Kurzfristig (2026–2027):</a:t>
            </a:r>
            <a:r>
              <a:rPr/>
              <a:t> 3–5 Pilotkunden (mind. 2 zahlend) bis Ende 2026; europäische Expansion, Ziel 10 aktive Kunden Ende 2027</a:t>
            </a:r>
          </a:p>
          <a:p>
            <a:pPr lvl="0" indent="0" marL="0">
              <a:buNone/>
            </a:pPr>
            <a:r>
              <a:rPr b="1"/>
              <a:t>Mittelfristig (2028–2029):</a:t>
            </a:r>
            <a:r>
              <a:rPr/>
              <a:t> Break-even operativ, erste Mitarbeiter; Reseller-/MSP-Partnernetzwerk, Team wächst auf 4–6 Personen</a:t>
            </a:r>
          </a:p>
          <a:p>
            <a:pPr lvl="0" indent="0" marL="0">
              <a:buNone/>
            </a:pPr>
            <a:r>
              <a:rPr b="1"/>
              <a:t>Langfristig (2030+):</a:t>
            </a:r>
            <a:r>
              <a:rPr/>
              <a:t> führender Anbieter lokaler KI-Lösungen im DACH-Raum; nachhaltiges, profitables Wachstum — Wachstumskapital nur bei Bedarf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Folie 14: Starke Argumente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Wiederkehrende Einnahmen</a:t>
            </a:r>
            <a:r>
              <a:rPr/>
              <a:t> – Abo-Modell + Hardware-Marge</a:t>
            </a:r>
          </a:p>
          <a:p>
            <a:pPr lvl="0"/>
            <a:r>
              <a:rPr b="1"/>
              <a:t>Wachstumsmarkt</a:t>
            </a:r>
            <a:r>
              <a:rPr/>
              <a:t> – KI im KMU-Segment wächst um ~25–30 % CAGR</a:t>
            </a:r>
          </a:p>
          <a:p>
            <a:pPr lvl="0"/>
            <a:r>
              <a:rPr b="1"/>
              <a:t>DSGVO-konform</a:t>
            </a:r>
            <a:r>
              <a:rPr/>
              <a:t> – klarer USP in Europa</a:t>
            </a:r>
          </a:p>
          <a:p>
            <a:pPr lvl="0"/>
            <a:r>
              <a:rPr b="1"/>
              <a:t>Geringes Abhängigkeitsrisiko</a:t>
            </a:r>
            <a:r>
              <a:rPr/>
              <a:t> – kein Investorendruck, Runway über 12 Monate</a:t>
            </a:r>
          </a:p>
          <a:p>
            <a:pPr lvl="0"/>
            <a:r>
              <a:rPr b="1"/>
              <a:t>Seltene Kompetenz-Bündelung</a:t>
            </a:r>
            <a:r>
              <a:rPr/>
              <a:t> – 30 Jahre Software- und Kundenerfahrung in einer Person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Folie 15: Call-to-Action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Wir suchen:</a:t>
            </a:r>
          </a:p>
          <a:p>
            <a:pPr lvl="0"/>
            <a:r>
              <a:rPr b="1"/>
              <a:t>Pilotkunden</a:t>
            </a:r>
            <a:r>
              <a:rPr/>
              <a:t> für die ersten Projekte in DACH</a:t>
            </a:r>
          </a:p>
          <a:p>
            <a:pPr lvl="0"/>
            <a:r>
              <a:rPr b="1"/>
              <a:t>Vertriebspartner</a:t>
            </a:r>
            <a:r>
              <a:rPr/>
              <a:t> mit Erfahrung im KMU-Umfeld</a:t>
            </a:r>
          </a:p>
          <a:p>
            <a:pPr lvl="0"/>
            <a:r>
              <a:rPr b="1"/>
              <a:t>Mentoren</a:t>
            </a:r>
            <a:r>
              <a:rPr/>
              <a:t> für strategische Unterstützung (z. B. dresden|exists, Silicon Saxony)</a:t>
            </a:r>
          </a:p>
          <a:p>
            <a:pPr lvl="0" indent="0" marL="0">
              <a:buNone/>
            </a:pPr>
            <a:r>
              <a:rPr b="1"/>
              <a:t>Kontakt:</a:t>
            </a:r>
            <a:r>
              <a:rPr/>
              <a:t> raffael@privatemind.eu | </a:t>
            </a:r>
            <a:r>
              <a:rPr>
                <a:hlinkClick r:id="rId2"/>
              </a:rPr>
              <a:t>privatemind.eu</a:t>
            </a:r>
            <a:r>
              <a:rPr/>
              <a:t> | Dresden, Deutschland</a:t>
            </a:r>
          </a:p>
          <a:p>
            <a:pPr lvl="0" indent="0" marL="0">
              <a:buNone/>
            </a:pPr>
            <a:r>
              <a:rPr b="1"/>
              <a:t>“Die KI-Abteilung, die sich jedes KMU leisten kann.”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A237E"/>
      </a:dk2>
      <a:lt2>
        <a:srgbClr val="EEECE1"/>
      </a:lt2>
      <a:accent1>
        <a:srgbClr val="1A237E"/>
      </a:accent1>
      <a:accent2>
        <a:srgbClr val="00B0FF"/>
      </a:accent2>
      <a:accent3>
        <a:srgbClr val="FF9800"/>
      </a:accent3>
      <a:accent4>
        <a:srgbClr val="1A237E"/>
      </a:accent4>
      <a:accent5>
        <a:srgbClr val="00B0FF"/>
      </a:accent5>
      <a:accent6>
        <a:srgbClr val="FF9800"/>
      </a:accent6>
      <a:hlink>
        <a:srgbClr val="00B0FF"/>
      </a:hlink>
      <a:folHlink>
        <a:srgbClr val="800080"/>
      </a:folHlink>
    </a:clrScheme>
    <a:fontScheme name="Office">
      <a:majorFont>
        <a:latin typeface="Montserra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Open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A237E"/>
      </a:dk2>
      <a:lt2>
        <a:srgbClr val="E7E6E6"/>
      </a:lt2>
      <a:accent1>
        <a:srgbClr val="1A237E"/>
      </a:accent1>
      <a:accent2>
        <a:srgbClr val="00B0FF"/>
      </a:accent2>
      <a:accent3>
        <a:srgbClr val="FF9800"/>
      </a:accent3>
      <a:accent4>
        <a:srgbClr val="1A237E"/>
      </a:accent4>
      <a:accent5>
        <a:srgbClr val="00B0FF"/>
      </a:accent5>
      <a:accent6>
        <a:srgbClr val="FF9800"/>
      </a:accent6>
      <a:hlink>
        <a:srgbClr val="00B0FF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PrivateMind GmbH — Pitch Deck</dc:title>
  <dc:creator>Raffael Reichelt</dc:creator>
  <cp:keywords/>
  <dcterms:created xsi:type="dcterms:W3CDTF">2026-07-26T06:35:29Z</dcterms:created>
  <dcterms:modified xsi:type="dcterms:W3CDTF">2026-07-26T06:35:29Z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lorlinks">
    <vt:lpwstr>False</vt:lpwstr>
  </property>
  <property fmtid="{D5CDD505-2E9C-101B-9397-08002B2CF9AE}" pid="3" name="date">
    <vt:lpwstr>voraussichtlich September/Oktober 2026 · Dresden, Deutschland</vt:lpwstr>
  </property>
  <property fmtid="{D5CDD505-2E9C-101B-9397-08002B2CF9AE}" pid="4" name="geometry">
    <vt:lpwstr>margin=2.2cm</vt:lpwstr>
  </property>
  <property fmtid="{D5CDD505-2E9C-101B-9397-08002B2CF9AE}" pid="5" name="header-includes">
    <vt:lpwstr/>
  </property>
  <property fmtid="{D5CDD505-2E9C-101B-9397-08002B2CF9AE}" pid="6" name="papersize">
    <vt:lpwstr>a4</vt:lpwstr>
  </property>
  <property fmtid="{D5CDD505-2E9C-101B-9397-08002B2CF9AE}" pid="7" name="subtitle">
    <vt:lpwstr>Lokale KI-Appliances für KMU – DSGVO-konform, ohne Cloud, ohne Kompromisse</vt:lpwstr>
  </property>
</Properties>
</file>