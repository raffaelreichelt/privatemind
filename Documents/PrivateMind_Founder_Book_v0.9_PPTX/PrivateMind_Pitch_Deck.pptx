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778240" y="-2011680"/>
            <a:ext cx="5486401" cy="5486401"/>
          </a:xfrm>
          <a:prstGeom prst="ellipse">
            <a:avLst/>
          </a:prstGeom>
          <a:solidFill>
            <a:srgbClr val="8B2AF8">
              <a:alpha val="12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417319"/>
            <a:ext cx="4114801" cy="1581913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2"/>
          <p:cNvSpPr txBox="1"/>
          <p:nvPr/>
        </p:nvSpPr>
        <p:spPr>
          <a:xfrm>
            <a:off x="640080" y="3322759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300">
                <a:solidFill>
                  <a:srgbClr val="00D4FF"/>
                </a:solidFill>
              </a:defRPr>
            </a:lvl1pPr>
          </a:lstStyle>
          <a:p>
            <a:pPr/>
            <a:r>
              <a:t>PITCH DECK</a:t>
            </a:r>
          </a:p>
        </p:txBody>
      </p:sp>
      <p:sp>
        <p:nvSpPr>
          <p:cNvPr id="24" name="Text 3"/>
          <p:cNvSpPr txBox="1"/>
          <p:nvPr/>
        </p:nvSpPr>
        <p:spPr>
          <a:xfrm>
            <a:off x="640080" y="3665371"/>
            <a:ext cx="10058401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Lokale KI-Appliances für KMU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640080" y="4279594"/>
            <a:ext cx="100584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700">
                <a:solidFill>
                  <a:srgbClr val="00D4FF"/>
                </a:solidFill>
              </a:defRPr>
            </a:pPr>
            <a:r>
              <a:t>DSGVO-konform</a:t>
            </a:r>
            <a:r>
              <a:rPr b="0">
                <a:solidFill>
                  <a:srgbClr val="AEBCD1"/>
                </a:solidFill>
              </a:rPr>
              <a:t>  ·  Ohne Cloud  ·  Ohne Kompromisse</a:t>
            </a:r>
          </a:p>
        </p:txBody>
      </p:sp>
      <p:sp>
        <p:nvSpPr>
          <p:cNvPr id="26" name="Text 5"/>
          <p:cNvSpPr txBox="1"/>
          <p:nvPr/>
        </p:nvSpPr>
        <p:spPr>
          <a:xfrm>
            <a:off x="640080" y="5925346"/>
            <a:ext cx="10058401" cy="402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b="1" sz="1200">
                <a:solidFill>
                  <a:srgbClr val="FFFFFF"/>
                </a:solidFill>
              </a:defRPr>
            </a:pPr>
            <a:r>
              <a:t>Raffael Reichelt</a:t>
            </a:r>
            <a:r>
              <a:rPr b="0">
                <a:solidFill>
                  <a:srgbClr val="AEBCD1"/>
                </a:solidFill>
              </a:rPr>
              <a:t>  ·  Gründer &amp; Geschäftsführer</a:t>
            </a:r>
            <a:endParaRPr b="0">
              <a:solidFill>
                <a:srgbClr val="AEBCD1"/>
              </a:solidFill>
            </a:endParaRPr>
          </a:p>
          <a:p>
            <a:pPr>
              <a:lnSpc>
                <a:spcPct val="135000"/>
              </a:lnSpc>
              <a:defRPr b="1" sz="1200">
                <a:solidFill>
                  <a:srgbClr val="FFFFFF"/>
                </a:solidFill>
              </a:defRPr>
            </a:pPr>
            <a:r>
              <a:rPr b="0">
                <a:solidFill>
                  <a:srgbClr val="AEBCD1"/>
                </a:solidFill>
              </a:rPr>
              <a:t>Dresden, Deutschland  ·  geplante Gründung September/Oktober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DAS PROBLEM</a:t>
            </a:r>
          </a:p>
        </p:txBody>
      </p:sp>
      <p:sp>
        <p:nvSpPr>
          <p:cNvPr id="29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KMU stecken im KI-Dilemma</a:t>
            </a:r>
          </a:p>
        </p:txBody>
      </p:sp>
      <p:sp>
        <p:nvSpPr>
          <p:cNvPr id="30" name="Shape 2"/>
          <p:cNvSpPr/>
          <p:nvPr/>
        </p:nvSpPr>
        <p:spPr>
          <a:xfrm>
            <a:off x="640080" y="1874520"/>
            <a:ext cx="3429001" cy="1874521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3"/>
          <p:cNvSpPr/>
          <p:nvPr/>
        </p:nvSpPr>
        <p:spPr>
          <a:xfrm>
            <a:off x="841247" y="2093976"/>
            <a:ext cx="146305" cy="146305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4"/>
          <p:cNvSpPr txBox="1"/>
          <p:nvPr/>
        </p:nvSpPr>
        <p:spPr>
          <a:xfrm>
            <a:off x="1133855" y="2002535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Wettbewerbsdruck</a:t>
            </a:r>
          </a:p>
        </p:txBody>
      </p:sp>
      <p:sp>
        <p:nvSpPr>
          <p:cNvPr id="33" name="Text 5"/>
          <p:cNvSpPr txBox="1"/>
          <p:nvPr/>
        </p:nvSpPr>
        <p:spPr>
          <a:xfrm>
            <a:off x="841247" y="2423160"/>
            <a:ext cx="3026666" cy="319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KI wird geschäftskritisch — Wettbewerber automatisieren längst ihre Prozesse.</a:t>
            </a:r>
          </a:p>
        </p:txBody>
      </p:sp>
      <p:sp>
        <p:nvSpPr>
          <p:cNvPr id="34" name="Shape 6"/>
          <p:cNvSpPr/>
          <p:nvPr/>
        </p:nvSpPr>
        <p:spPr>
          <a:xfrm>
            <a:off x="4325111" y="1874520"/>
            <a:ext cx="3429001" cy="1874521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Shape 7"/>
          <p:cNvSpPr/>
          <p:nvPr/>
        </p:nvSpPr>
        <p:spPr>
          <a:xfrm>
            <a:off x="4526279" y="2093976"/>
            <a:ext cx="146305" cy="146305"/>
          </a:xfrm>
          <a:prstGeom prst="ellipse">
            <a:avLst/>
          </a:prstGeom>
          <a:solidFill>
            <a:srgbClr val="8B2A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8"/>
          <p:cNvSpPr txBox="1"/>
          <p:nvPr/>
        </p:nvSpPr>
        <p:spPr>
          <a:xfrm>
            <a:off x="4818888" y="2002535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Cloud-Risiko</a:t>
            </a:r>
          </a:p>
        </p:txBody>
      </p:sp>
      <p:sp>
        <p:nvSpPr>
          <p:cNvPr id="37" name="Text 9"/>
          <p:cNvSpPr txBox="1"/>
          <p:nvPr/>
        </p:nvSpPr>
        <p:spPr>
          <a:xfrm>
            <a:off x="4526279" y="2423160"/>
            <a:ext cx="3026665" cy="319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Sensible Mandanten- und Kundendaten verlassen bei Cloud-KI das Unternehmen.</a:t>
            </a:r>
          </a:p>
        </p:txBody>
      </p:sp>
      <p:sp>
        <p:nvSpPr>
          <p:cNvPr id="38" name="Shape 10"/>
          <p:cNvSpPr/>
          <p:nvPr/>
        </p:nvSpPr>
        <p:spPr>
          <a:xfrm>
            <a:off x="8010143" y="1874520"/>
            <a:ext cx="3429001" cy="1874521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11"/>
          <p:cNvSpPr/>
          <p:nvPr/>
        </p:nvSpPr>
        <p:spPr>
          <a:xfrm>
            <a:off x="8211311" y="2093976"/>
            <a:ext cx="146305" cy="146305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2"/>
          <p:cNvSpPr txBox="1"/>
          <p:nvPr/>
        </p:nvSpPr>
        <p:spPr>
          <a:xfrm>
            <a:off x="8503919" y="2002535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Fehlende Infrastruktur</a:t>
            </a:r>
          </a:p>
        </p:txBody>
      </p:sp>
      <p:sp>
        <p:nvSpPr>
          <p:cNvPr id="41" name="Text 13"/>
          <p:cNvSpPr txBox="1"/>
          <p:nvPr/>
        </p:nvSpPr>
        <p:spPr>
          <a:xfrm>
            <a:off x="8211311" y="2423160"/>
            <a:ext cx="3026666" cy="319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Keine eigene IT-Abteilung, keine Expertise für eine eigene Lösung.</a:t>
            </a:r>
          </a:p>
        </p:txBody>
      </p:sp>
      <p:sp>
        <p:nvSpPr>
          <p:cNvPr id="42" name="Shape 14"/>
          <p:cNvSpPr/>
          <p:nvPr/>
        </p:nvSpPr>
        <p:spPr>
          <a:xfrm>
            <a:off x="640080" y="4069079"/>
            <a:ext cx="10799065" cy="1417321"/>
          </a:xfrm>
          <a:prstGeom prst="roundRect">
            <a:avLst>
              <a:gd name="adj" fmla="val 5161"/>
            </a:avLst>
          </a:prstGeom>
          <a:solidFill>
            <a:srgbClr val="1A2338"/>
          </a:solidFill>
          <a:ln>
            <a:solidFill>
              <a:srgbClr val="2A355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15"/>
          <p:cNvSpPr txBox="1"/>
          <p:nvPr/>
        </p:nvSpPr>
        <p:spPr>
          <a:xfrm>
            <a:off x="960120" y="4435780"/>
            <a:ext cx="2377440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8B2AF8"/>
                </a:solidFill>
              </a:defRPr>
            </a:lvl1pPr>
          </a:lstStyle>
          <a:p>
            <a:pPr/>
            <a:r>
              <a:t>45–55 %</a:t>
            </a:r>
          </a:p>
        </p:txBody>
      </p:sp>
      <p:sp>
        <p:nvSpPr>
          <p:cNvPr id="44" name="Text 16"/>
          <p:cNvSpPr txBox="1"/>
          <p:nvPr/>
        </p:nvSpPr>
        <p:spPr>
          <a:xfrm>
            <a:off x="3474719" y="4526193"/>
            <a:ext cx="7690106" cy="411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AEBCD1"/>
                </a:solidFill>
              </a:defRPr>
            </a:lvl1pPr>
          </a:lstStyle>
          <a:p>
            <a:pPr/>
            <a:r>
              <a:t>der europäischen KMU haben laut Bitkom / DSGVO-Befragungen Datenschutzbedenken bei Cloud-KI — und benötigen eine DSGVO-konforme Alternative.</a:t>
            </a:r>
          </a:p>
        </p:txBody>
      </p:sp>
      <p:sp>
        <p:nvSpPr>
          <p:cNvPr id="45" name="Text 17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4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Text 18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UNSERE LÖSUNG</a:t>
            </a:r>
          </a:p>
        </p:txBody>
      </p:sp>
      <p:sp>
        <p:nvSpPr>
          <p:cNvPr id="50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KI dort, wo sie hingehört: im Unternehmen</a:t>
            </a:r>
          </a:p>
        </p:txBody>
      </p:sp>
      <p:sp>
        <p:nvSpPr>
          <p:cNvPr id="51" name="Text 2"/>
          <p:cNvSpPr txBox="1"/>
          <p:nvPr/>
        </p:nvSpPr>
        <p:spPr>
          <a:xfrm>
            <a:off x="640080" y="1672266"/>
            <a:ext cx="108813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AEBCD1"/>
                </a:solidFill>
              </a:defRPr>
            </a:lvl1pPr>
          </a:lstStyle>
          <a:p>
            <a:pPr/>
            <a:r>
              <a:t>PrivateMind bringt leistungsfähige KI-Modelle direkt vor Ort zum Einsatz — ohne dass Daten das Haus verlassen.</a:t>
            </a:r>
          </a:p>
        </p:txBody>
      </p:sp>
      <p:sp>
        <p:nvSpPr>
          <p:cNvPr id="52" name="Shape 3"/>
          <p:cNvSpPr/>
          <p:nvPr/>
        </p:nvSpPr>
        <p:spPr>
          <a:xfrm>
            <a:off x="640080" y="2148839"/>
            <a:ext cx="2578608" cy="1920241"/>
          </a:xfrm>
          <a:prstGeom prst="roundRect">
            <a:avLst>
              <a:gd name="adj" fmla="val 3810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4"/>
          <p:cNvSpPr/>
          <p:nvPr/>
        </p:nvSpPr>
        <p:spPr>
          <a:xfrm>
            <a:off x="841247" y="2368295"/>
            <a:ext cx="146305" cy="146305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5"/>
          <p:cNvSpPr txBox="1"/>
          <p:nvPr/>
        </p:nvSpPr>
        <p:spPr>
          <a:xfrm>
            <a:off x="1133855" y="2276855"/>
            <a:ext cx="1883666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Lokale Appliance</a:t>
            </a:r>
          </a:p>
        </p:txBody>
      </p:sp>
      <p:sp>
        <p:nvSpPr>
          <p:cNvPr id="55" name="Text 6"/>
          <p:cNvSpPr txBox="1"/>
          <p:nvPr/>
        </p:nvSpPr>
        <p:spPr>
          <a:xfrm>
            <a:off x="841247" y="2697479"/>
            <a:ext cx="2176273" cy="504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NVIDIA GB10 Grace Blackwell auf ASUS Ascent GX10 — volle Rechenleistung vor Ort.</a:t>
            </a:r>
          </a:p>
        </p:txBody>
      </p:sp>
      <p:sp>
        <p:nvSpPr>
          <p:cNvPr id="56" name="Shape 7"/>
          <p:cNvSpPr/>
          <p:nvPr/>
        </p:nvSpPr>
        <p:spPr>
          <a:xfrm>
            <a:off x="3456432" y="2148839"/>
            <a:ext cx="2578608" cy="1920241"/>
          </a:xfrm>
          <a:prstGeom prst="roundRect">
            <a:avLst>
              <a:gd name="adj" fmla="val 3810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8"/>
          <p:cNvSpPr/>
          <p:nvPr/>
        </p:nvSpPr>
        <p:spPr>
          <a:xfrm>
            <a:off x="3657599" y="2368295"/>
            <a:ext cx="146306" cy="146305"/>
          </a:xfrm>
          <a:prstGeom prst="ellipse">
            <a:avLst/>
          </a:prstGeom>
          <a:solidFill>
            <a:srgbClr val="8B2A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9"/>
          <p:cNvSpPr txBox="1"/>
          <p:nvPr/>
        </p:nvSpPr>
        <p:spPr>
          <a:xfrm>
            <a:off x="3950208" y="2276855"/>
            <a:ext cx="188366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DSGVO-konform</a:t>
            </a:r>
          </a:p>
        </p:txBody>
      </p:sp>
      <p:sp>
        <p:nvSpPr>
          <p:cNvPr id="59" name="Text 10"/>
          <p:cNvSpPr txBox="1"/>
          <p:nvPr/>
        </p:nvSpPr>
        <p:spPr>
          <a:xfrm>
            <a:off x="3657599" y="2697479"/>
            <a:ext cx="2176274" cy="504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Alle Daten bleiben vollständig im Unternehmen, ohne Cloud-Anbindung.</a:t>
            </a:r>
          </a:p>
        </p:txBody>
      </p:sp>
      <p:sp>
        <p:nvSpPr>
          <p:cNvPr id="60" name="Shape 11"/>
          <p:cNvSpPr/>
          <p:nvPr/>
        </p:nvSpPr>
        <p:spPr>
          <a:xfrm>
            <a:off x="6272784" y="2148839"/>
            <a:ext cx="2578609" cy="1920241"/>
          </a:xfrm>
          <a:prstGeom prst="roundRect">
            <a:avLst>
              <a:gd name="adj" fmla="val 3810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Shape 12"/>
          <p:cNvSpPr/>
          <p:nvPr/>
        </p:nvSpPr>
        <p:spPr>
          <a:xfrm>
            <a:off x="6473952" y="2368295"/>
            <a:ext cx="146305" cy="146305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3"/>
          <p:cNvSpPr txBox="1"/>
          <p:nvPr/>
        </p:nvSpPr>
        <p:spPr>
          <a:xfrm>
            <a:off x="6766559" y="2276855"/>
            <a:ext cx="188366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Komplettservice</a:t>
            </a:r>
          </a:p>
        </p:txBody>
      </p:sp>
      <p:sp>
        <p:nvSpPr>
          <p:cNvPr id="63" name="Text 14"/>
          <p:cNvSpPr txBox="1"/>
          <p:nvPr/>
        </p:nvSpPr>
        <p:spPr>
          <a:xfrm>
            <a:off x="6473952" y="2697479"/>
            <a:ext cx="2176273" cy="319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Hardware, Software und Support aus einer Hand.</a:t>
            </a:r>
          </a:p>
        </p:txBody>
      </p:sp>
      <p:sp>
        <p:nvSpPr>
          <p:cNvPr id="64" name="Shape 15"/>
          <p:cNvSpPr/>
          <p:nvPr/>
        </p:nvSpPr>
        <p:spPr>
          <a:xfrm>
            <a:off x="9089135" y="2148839"/>
            <a:ext cx="2578609" cy="1920241"/>
          </a:xfrm>
          <a:prstGeom prst="roundRect">
            <a:avLst>
              <a:gd name="adj" fmla="val 3810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16"/>
          <p:cNvSpPr/>
          <p:nvPr/>
        </p:nvSpPr>
        <p:spPr>
          <a:xfrm>
            <a:off x="9290304" y="2368295"/>
            <a:ext cx="146305" cy="146305"/>
          </a:xfrm>
          <a:prstGeom prst="ellipse">
            <a:avLst/>
          </a:prstGeom>
          <a:solidFill>
            <a:srgbClr val="8B2A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7"/>
          <p:cNvSpPr txBox="1"/>
          <p:nvPr/>
        </p:nvSpPr>
        <p:spPr>
          <a:xfrm>
            <a:off x="9582911" y="2276855"/>
            <a:ext cx="1883666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Einfachheit</a:t>
            </a:r>
          </a:p>
        </p:txBody>
      </p:sp>
      <p:sp>
        <p:nvSpPr>
          <p:cNvPr id="67" name="Text 18"/>
          <p:cNvSpPr txBox="1"/>
          <p:nvPr/>
        </p:nvSpPr>
        <p:spPr>
          <a:xfrm>
            <a:off x="9290304" y="2697479"/>
            <a:ext cx="2176273" cy="319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Funktioniert out of the box — keine IT-Expertise nötig.</a:t>
            </a:r>
          </a:p>
        </p:txBody>
      </p:sp>
      <p:sp>
        <p:nvSpPr>
          <p:cNvPr id="68" name="Text 19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6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Text 20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DAS PRODUKT</a:t>
            </a:r>
          </a:p>
        </p:txBody>
      </p:sp>
      <p:sp>
        <p:nvSpPr>
          <p:cNvPr id="73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Vier Editionen, ein Fundament</a:t>
            </a:r>
          </a:p>
        </p:txBody>
      </p:sp>
      <p:sp>
        <p:nvSpPr>
          <p:cNvPr id="74" name="Text 2"/>
          <p:cNvSpPr txBox="1"/>
          <p:nvPr/>
        </p:nvSpPr>
        <p:spPr>
          <a:xfrm>
            <a:off x="640080" y="1672266"/>
            <a:ext cx="108813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AEBCD1"/>
                </a:solidFill>
              </a:defRPr>
            </a:lvl1pPr>
          </a:lstStyle>
          <a:p>
            <a:pPr/>
            <a:r>
              <a:t>NVIDIA GB10 Grace Blackwell Superchip · 128 GB Unified Memory je Gerät · nur 150 × 150 × 51 mm pro Einheit</a:t>
            </a:r>
          </a:p>
        </p:txBody>
      </p:sp>
      <p:graphicFrame>
        <p:nvGraphicFramePr>
          <p:cNvPr id="75" name="Table 0"/>
          <p:cNvGraphicFramePr/>
          <p:nvPr/>
        </p:nvGraphicFramePr>
        <p:xfrm>
          <a:off x="640080" y="2148839"/>
          <a:ext cx="11875038" cy="2286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94560"/>
                <a:gridCol w="3840480"/>
                <a:gridCol w="1280160"/>
                <a:gridCol w="2194560"/>
                <a:gridCol w="2365278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Produkt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Hardware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Nutzer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Hardware-VK (netto)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Service-Abo (netto/Mon.)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Standard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1× ASUS Ascent GX10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3–8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€3.800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€149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Professional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1× ASUS Ascent GX10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3–8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€4.500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€699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Premium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2× ASUS Ascent GX10 (Cluster)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8–20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€9.500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€699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Enterprise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ASUS ESC4000A-E12 / Dell R760xa (4× L40S)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20–100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€62.500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€1.999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</a:tr>
            </a:tbl>
          </a:graphicData>
        </a:graphic>
      </p:graphicFrame>
      <p:sp>
        <p:nvSpPr>
          <p:cNvPr id="76" name="Text 3"/>
          <p:cNvSpPr txBox="1"/>
          <p:nvPr/>
        </p:nvSpPr>
        <p:spPr>
          <a:xfrm>
            <a:off x="640080" y="4527726"/>
            <a:ext cx="1088136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72809A"/>
                </a:solidFill>
              </a:defRPr>
            </a:lvl1pPr>
          </a:lstStyle>
          <a:p>
            <a:pPr/>
            <a:r>
              <a:t>Premium: 2er-Cluster mit 256 GB Unified Memory — unterstützt Modelle bis 405 Mrd. Parameter (4-Bit).</a:t>
            </a:r>
          </a:p>
        </p:txBody>
      </p:sp>
      <p:sp>
        <p:nvSpPr>
          <p:cNvPr id="77" name="Text 4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7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Text 5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TECHNOLOGIE-STACK</a:t>
            </a:r>
          </a:p>
        </p:txBody>
      </p:sp>
      <p:sp>
        <p:nvSpPr>
          <p:cNvPr id="82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Bewährte Bausteine, kuratiert kombiniert</a:t>
            </a:r>
          </a:p>
        </p:txBody>
      </p:sp>
      <p:sp>
        <p:nvSpPr>
          <p:cNvPr id="83" name="Shape 2"/>
          <p:cNvSpPr/>
          <p:nvPr/>
        </p:nvSpPr>
        <p:spPr>
          <a:xfrm>
            <a:off x="640080" y="1874520"/>
            <a:ext cx="5257801" cy="3657601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3"/>
          <p:cNvSpPr/>
          <p:nvPr/>
        </p:nvSpPr>
        <p:spPr>
          <a:xfrm>
            <a:off x="868680" y="2103120"/>
            <a:ext cx="164593" cy="164593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4"/>
          <p:cNvSpPr txBox="1"/>
          <p:nvPr/>
        </p:nvSpPr>
        <p:spPr>
          <a:xfrm>
            <a:off x="1188719" y="2099127"/>
            <a:ext cx="44348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Hardware</a:t>
            </a:r>
          </a:p>
        </p:txBody>
      </p:sp>
      <p:sp>
        <p:nvSpPr>
          <p:cNvPr id="86" name="Text 5"/>
          <p:cNvSpPr txBox="1"/>
          <p:nvPr/>
        </p:nvSpPr>
        <p:spPr>
          <a:xfrm>
            <a:off x="914400" y="2560320"/>
            <a:ext cx="4709160" cy="926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EBCD1"/>
                </a:solidFill>
              </a:defRPr>
            </a:pPr>
            <a:r>
              <a:t>ASUS Ascent GX10 — günstigste verfügbare GB10-Implementierung</a:t>
            </a:r>
          </a:p>
          <a:p>
            <a:pPr>
              <a:lnSpc>
                <a:spcPct val="130000"/>
              </a:lnSpc>
              <a:defRPr sz="1300">
                <a:solidFill>
                  <a:srgbClr val="AEBCD1"/>
                </a:solidFill>
              </a:defRPr>
            </a:pPr>
          </a:p>
          <a:p>
            <a:pPr>
              <a:lnSpc>
                <a:spcPct val="130000"/>
              </a:lnSpc>
              <a:defRPr sz="1300">
                <a:solidFill>
                  <a:srgbClr val="AEBCD1"/>
                </a:solidFill>
              </a:defRPr>
            </a:pPr>
            <a:r>
              <a:rPr b="1">
                <a:solidFill>
                  <a:srgbClr val="FFFFFF"/>
                </a:solidFill>
              </a:rPr>
              <a:t>Enterprise-Linie alternativ auf 2U-Rack:</a:t>
            </a:r>
            <a:endParaRPr b="1">
              <a:solidFill>
                <a:srgbClr val="FFFFFF"/>
              </a:solidFill>
            </a:endParaRPr>
          </a:p>
          <a:p>
            <a:pPr>
              <a:lnSpc>
                <a:spcPct val="130000"/>
              </a:lnSpc>
              <a:defRPr sz="1300">
                <a:solidFill>
                  <a:srgbClr val="AEBCD1"/>
                </a:solidFill>
              </a:defRPr>
            </a:pPr>
            <a:r>
              <a:t>ASUS ESC4000A-E12 oder Dell R760xa, 4× NVIDIA L40S</a:t>
            </a:r>
          </a:p>
        </p:txBody>
      </p:sp>
      <p:sp>
        <p:nvSpPr>
          <p:cNvPr id="87" name="Shape 6"/>
          <p:cNvSpPr/>
          <p:nvPr/>
        </p:nvSpPr>
        <p:spPr>
          <a:xfrm>
            <a:off x="6263640" y="1874520"/>
            <a:ext cx="5257801" cy="3657601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7"/>
          <p:cNvSpPr/>
          <p:nvPr/>
        </p:nvSpPr>
        <p:spPr>
          <a:xfrm>
            <a:off x="6492240" y="2103120"/>
            <a:ext cx="164593" cy="164593"/>
          </a:xfrm>
          <a:prstGeom prst="ellipse">
            <a:avLst/>
          </a:prstGeom>
          <a:solidFill>
            <a:srgbClr val="8B2A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8"/>
          <p:cNvSpPr txBox="1"/>
          <p:nvPr/>
        </p:nvSpPr>
        <p:spPr>
          <a:xfrm>
            <a:off x="6812280" y="2099127"/>
            <a:ext cx="443484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Software</a:t>
            </a:r>
          </a:p>
        </p:txBody>
      </p:sp>
      <p:sp>
        <p:nvSpPr>
          <p:cNvPr id="90" name="Text 9"/>
          <p:cNvSpPr txBox="1"/>
          <p:nvPr/>
        </p:nvSpPr>
        <p:spPr>
          <a:xfrm>
            <a:off x="6537960" y="2560320"/>
            <a:ext cx="4709160" cy="1686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r>
              <a:t>Kuratierte Modellauswahl:</a:t>
            </a: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r>
              <a:rPr b="0">
                <a:solidFill>
                  <a:srgbClr val="AEBCD1"/>
                </a:solidFill>
              </a:rPr>
              <a:t>Llama 3.3 70B, DeepSeek-R1 70B, Qwen2.5 72B, Mistral Large</a:t>
            </a: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r>
              <a:t>PrivateMind-Dashboard:</a:t>
            </a: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r>
              <a:rPr b="0">
                <a:solidFill>
                  <a:srgbClr val="AEBCD1"/>
                </a:solidFill>
              </a:rPr>
              <a:t>Chat, Dokumenten-Upload, Modellverwaltung</a:t>
            </a: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r>
              <a:t>Ab V2: </a:t>
            </a:r>
            <a:r>
              <a:rPr b="0">
                <a:solidFill>
                  <a:srgbClr val="AEBCD1"/>
                </a:solidFill>
              </a:rPr>
              <a:t>RAG-Pipeline &amp; Audit-Log, laufende Updates</a:t>
            </a:r>
          </a:p>
        </p:txBody>
      </p:sp>
      <p:sp>
        <p:nvSpPr>
          <p:cNvPr id="91" name="Text 10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9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Text 11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GESCHÄFTSMODELL</a:t>
            </a:r>
          </a:p>
        </p:txBody>
      </p:sp>
      <p:sp>
        <p:nvSpPr>
          <p:cNvPr id="96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Zwei Wege zum gleichen Ziel</a:t>
            </a:r>
          </a:p>
        </p:txBody>
      </p:sp>
      <p:sp>
        <p:nvSpPr>
          <p:cNvPr id="97" name="Shape 2"/>
          <p:cNvSpPr/>
          <p:nvPr/>
        </p:nvSpPr>
        <p:spPr>
          <a:xfrm>
            <a:off x="640080" y="1874520"/>
            <a:ext cx="5257801" cy="3657601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3"/>
          <p:cNvSpPr txBox="1"/>
          <p:nvPr/>
        </p:nvSpPr>
        <p:spPr>
          <a:xfrm>
            <a:off x="914400" y="2157275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0D4FF"/>
                </a:solidFill>
              </a:defRPr>
            </a:lvl1pPr>
          </a:lstStyle>
          <a:p>
            <a:pPr/>
            <a:r>
              <a:t>Option A</a:t>
            </a:r>
          </a:p>
        </p:txBody>
      </p:sp>
      <p:sp>
        <p:nvSpPr>
          <p:cNvPr id="99" name="Text 4"/>
          <p:cNvSpPr txBox="1"/>
          <p:nvPr/>
        </p:nvSpPr>
        <p:spPr>
          <a:xfrm>
            <a:off x="914400" y="2485216"/>
            <a:ext cx="470916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Hardware-Kauf + Service-Abo</a:t>
            </a:r>
          </a:p>
        </p:txBody>
      </p:sp>
      <p:sp>
        <p:nvSpPr>
          <p:cNvPr id="100" name="Text 5"/>
          <p:cNvSpPr txBox="1"/>
          <p:nvPr/>
        </p:nvSpPr>
        <p:spPr>
          <a:xfrm>
            <a:off x="914400" y="3017520"/>
            <a:ext cx="4709160" cy="143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r>
              <a:t>Hardware: </a:t>
            </a:r>
            <a:r>
              <a:rPr b="0">
                <a:solidFill>
                  <a:srgbClr val="AEBCD1"/>
                </a:solidFill>
              </a:rPr>
              <a:t>Einmaliger Kauf, €3.800–€62.500 je nach Tier</a:t>
            </a: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r>
              <a:t>Service-Abo: </a:t>
            </a:r>
            <a:r>
              <a:rPr b="0">
                <a:solidFill>
                  <a:srgbClr val="AEBCD1"/>
                </a:solidFill>
              </a:rPr>
              <a:t>Monatlich €149–€1.999 (Starter/Professional/Enterprise)</a:t>
            </a: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r>
              <a:rPr b="0" i="1">
                <a:solidFill>
                  <a:srgbClr val="72809A"/>
                </a:solidFill>
              </a:rPr>
              <a:t>Getrennte Abrechnung, volle Kostenkontrolle.</a:t>
            </a:r>
          </a:p>
        </p:txBody>
      </p:sp>
      <p:sp>
        <p:nvSpPr>
          <p:cNvPr id="101" name="Shape 6"/>
          <p:cNvSpPr/>
          <p:nvPr/>
        </p:nvSpPr>
        <p:spPr>
          <a:xfrm>
            <a:off x="6263640" y="1874520"/>
            <a:ext cx="5257801" cy="3657601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7"/>
          <p:cNvSpPr txBox="1"/>
          <p:nvPr/>
        </p:nvSpPr>
        <p:spPr>
          <a:xfrm>
            <a:off x="6537960" y="2157275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B2AF8"/>
                </a:solidFill>
              </a:defRPr>
            </a:lvl1pPr>
          </a:lstStyle>
          <a:p>
            <a:pPr/>
            <a:r>
              <a:t>Option B</a:t>
            </a:r>
          </a:p>
        </p:txBody>
      </p:sp>
      <p:sp>
        <p:nvSpPr>
          <p:cNvPr id="103" name="Text 8"/>
          <p:cNvSpPr txBox="1"/>
          <p:nvPr/>
        </p:nvSpPr>
        <p:spPr>
          <a:xfrm>
            <a:off x="6537960" y="2485216"/>
            <a:ext cx="470916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All-Inclusive-Bundle (Leasing)</a:t>
            </a:r>
          </a:p>
        </p:txBody>
      </p:sp>
      <p:sp>
        <p:nvSpPr>
          <p:cNvPr id="104" name="Text 9"/>
          <p:cNvSpPr txBox="1"/>
          <p:nvPr/>
        </p:nvSpPr>
        <p:spPr>
          <a:xfrm>
            <a:off x="6537960" y="3017520"/>
            <a:ext cx="4709160" cy="1179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r>
              <a:t>Laufzeit: </a:t>
            </a:r>
            <a:r>
              <a:rPr b="0">
                <a:solidFill>
                  <a:srgbClr val="AEBCD1"/>
                </a:solidFill>
              </a:rPr>
              <a:t>36–60 Monate, Hardware + Service inklusive</a:t>
            </a: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r>
              <a:t>Vorteil: </a:t>
            </a:r>
            <a:r>
              <a:rPr b="0">
                <a:solidFill>
                  <a:srgbClr val="AEBCD1"/>
                </a:solidFill>
              </a:rPr>
              <a:t>Reine Betriebsausgabe, ohne Kapitalbindung</a:t>
            </a: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endParaRPr b="0">
              <a:solidFill>
                <a:srgbClr val="AEBCD1"/>
              </a:solidFill>
            </a:endParaRPr>
          </a:p>
          <a:p>
            <a:pPr>
              <a:lnSpc>
                <a:spcPct val="130000"/>
              </a:lnSpc>
              <a:defRPr b="1" sz="1300">
                <a:solidFill>
                  <a:srgbClr val="FFFFFF"/>
                </a:solidFill>
              </a:defRPr>
            </a:pPr>
            <a:r>
              <a:rPr b="0" i="1">
                <a:solidFill>
                  <a:srgbClr val="72809A"/>
                </a:solidFill>
              </a:rPr>
              <a:t>Steuerlich attraktiv für KMU-Kunden.</a:t>
            </a:r>
          </a:p>
        </p:txBody>
      </p:sp>
      <p:sp>
        <p:nvSpPr>
          <p:cNvPr id="105" name="Text 10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10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 11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MARKT &amp; ZIELGRUPPE</a:t>
            </a:r>
          </a:p>
        </p:txBody>
      </p:sp>
      <p:sp>
        <p:nvSpPr>
          <p:cNvPr id="110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Europas KMU mit Vertraulichkeitspflicht</a:t>
            </a:r>
          </a:p>
        </p:txBody>
      </p:sp>
      <p:sp>
        <p:nvSpPr>
          <p:cNvPr id="111" name="Text 2"/>
          <p:cNvSpPr txBox="1"/>
          <p:nvPr/>
        </p:nvSpPr>
        <p:spPr>
          <a:xfrm>
            <a:off x="640079" y="1974019"/>
            <a:ext cx="58521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Primäre Zielgruppe: KMU in Europa, 10–50 Mitarbeiter</a:t>
            </a:r>
          </a:p>
        </p:txBody>
      </p:sp>
      <p:sp>
        <p:nvSpPr>
          <p:cNvPr id="112" name="Shape 3"/>
          <p:cNvSpPr/>
          <p:nvPr/>
        </p:nvSpPr>
        <p:spPr>
          <a:xfrm>
            <a:off x="640080" y="2432304"/>
            <a:ext cx="118873" cy="118873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4"/>
          <p:cNvSpPr txBox="1"/>
          <p:nvPr/>
        </p:nvSpPr>
        <p:spPr>
          <a:xfrm>
            <a:off x="896111" y="2331720"/>
            <a:ext cx="55961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Kanzleien &amp; Steuerberater  </a:t>
            </a:r>
            <a:r>
              <a:rPr b="0">
                <a:solidFill>
                  <a:srgbClr val="AEBCD1"/>
                </a:solidFill>
              </a:rPr>
              <a:t>— Mandanten-/Steuergeheimnis (§ 203 StGB, § 30 AO)</a:t>
            </a:r>
          </a:p>
        </p:txBody>
      </p:sp>
      <p:sp>
        <p:nvSpPr>
          <p:cNvPr id="114" name="Shape 5"/>
          <p:cNvSpPr/>
          <p:nvPr/>
        </p:nvSpPr>
        <p:spPr>
          <a:xfrm>
            <a:off x="640080" y="2999232"/>
            <a:ext cx="118873" cy="118873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6"/>
          <p:cNvSpPr txBox="1"/>
          <p:nvPr/>
        </p:nvSpPr>
        <p:spPr>
          <a:xfrm>
            <a:off x="896111" y="2898648"/>
            <a:ext cx="55961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Arzt- &amp; Zahnarztpraxen, MVZ  </a:t>
            </a:r>
            <a:r>
              <a:rPr b="0">
                <a:solidFill>
                  <a:srgbClr val="AEBCD1"/>
                </a:solidFill>
              </a:rPr>
              <a:t>— ärztliche Schweigepflicht, DSGVO</a:t>
            </a:r>
          </a:p>
        </p:txBody>
      </p:sp>
      <p:sp>
        <p:nvSpPr>
          <p:cNvPr id="116" name="Shape 7"/>
          <p:cNvSpPr/>
          <p:nvPr/>
        </p:nvSpPr>
        <p:spPr>
          <a:xfrm>
            <a:off x="640080" y="3566159"/>
            <a:ext cx="118873" cy="118873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8"/>
          <p:cNvSpPr txBox="1"/>
          <p:nvPr/>
        </p:nvSpPr>
        <p:spPr>
          <a:xfrm>
            <a:off x="896111" y="3465576"/>
            <a:ext cx="55961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Ingenieurbüros &amp; Architekten  </a:t>
            </a:r>
            <a:r>
              <a:rPr b="0">
                <a:solidFill>
                  <a:srgbClr val="AEBCD1"/>
                </a:solidFill>
              </a:rPr>
              <a:t>— vertragliche NDA-Verpflichtungen</a:t>
            </a:r>
          </a:p>
        </p:txBody>
      </p:sp>
      <p:sp>
        <p:nvSpPr>
          <p:cNvPr id="118" name="Shape 9"/>
          <p:cNvSpPr/>
          <p:nvPr/>
        </p:nvSpPr>
        <p:spPr>
          <a:xfrm>
            <a:off x="640080" y="4133088"/>
            <a:ext cx="118873" cy="118873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10"/>
          <p:cNvSpPr txBox="1"/>
          <p:nvPr/>
        </p:nvSpPr>
        <p:spPr>
          <a:xfrm>
            <a:off x="896111" y="4032503"/>
            <a:ext cx="559613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Unternehmensberatungen  </a:t>
            </a:r>
            <a:r>
              <a:rPr b="0">
                <a:solidFill>
                  <a:srgbClr val="AEBCD1"/>
                </a:solidFill>
              </a:rPr>
              <a:t>— NDA, Mandantenvertrauen</a:t>
            </a:r>
          </a:p>
        </p:txBody>
      </p:sp>
      <p:sp>
        <p:nvSpPr>
          <p:cNvPr id="120" name="Shape 11"/>
          <p:cNvSpPr/>
          <p:nvPr/>
        </p:nvSpPr>
        <p:spPr>
          <a:xfrm>
            <a:off x="6949440" y="1874520"/>
            <a:ext cx="4602176" cy="1051561"/>
          </a:xfrm>
          <a:prstGeom prst="roundRect">
            <a:avLst>
              <a:gd name="adj" fmla="val 6957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12"/>
          <p:cNvSpPr txBox="1"/>
          <p:nvPr/>
        </p:nvSpPr>
        <p:spPr>
          <a:xfrm>
            <a:off x="7114031" y="2216382"/>
            <a:ext cx="427299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2600">
                <a:solidFill>
                  <a:srgbClr val="8B2AF8"/>
                </a:solidFill>
              </a:defRPr>
            </a:lvl1pPr>
          </a:lstStyle>
          <a:p>
            <a:pPr/>
            <a:r>
              <a:t>&gt; €5 Mrd.</a:t>
            </a:r>
          </a:p>
        </p:txBody>
      </p:sp>
      <p:sp>
        <p:nvSpPr>
          <p:cNvPr id="122" name="Text 13"/>
          <p:cNvSpPr txBox="1"/>
          <p:nvPr/>
        </p:nvSpPr>
        <p:spPr>
          <a:xfrm>
            <a:off x="7114031" y="2580894"/>
            <a:ext cx="427299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AEBCD1"/>
                </a:solidFill>
              </a:defRPr>
            </a:lvl1pPr>
          </a:lstStyle>
          <a:p>
            <a:pPr/>
            <a:r>
              <a:t>Geschätzter TAM lokale KI-Infrastruktur EU (eigene, konservative Berechnung)</a:t>
            </a:r>
          </a:p>
        </p:txBody>
      </p:sp>
      <p:sp>
        <p:nvSpPr>
          <p:cNvPr id="123" name="Shape 14"/>
          <p:cNvSpPr/>
          <p:nvPr/>
        </p:nvSpPr>
        <p:spPr>
          <a:xfrm>
            <a:off x="6949440" y="3108960"/>
            <a:ext cx="4602176" cy="1051561"/>
          </a:xfrm>
          <a:prstGeom prst="roundRect">
            <a:avLst>
              <a:gd name="adj" fmla="val 6957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15"/>
          <p:cNvSpPr txBox="1"/>
          <p:nvPr/>
        </p:nvSpPr>
        <p:spPr>
          <a:xfrm>
            <a:off x="7114031" y="3450822"/>
            <a:ext cx="427299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2600">
                <a:solidFill>
                  <a:srgbClr val="00D4FF"/>
                </a:solidFill>
              </a:defRPr>
            </a:lvl1pPr>
          </a:lstStyle>
          <a:p>
            <a:pPr/>
            <a:r>
              <a:t>25–30 %</a:t>
            </a:r>
          </a:p>
        </p:txBody>
      </p:sp>
      <p:sp>
        <p:nvSpPr>
          <p:cNvPr id="125" name="Text 16"/>
          <p:cNvSpPr txBox="1"/>
          <p:nvPr/>
        </p:nvSpPr>
        <p:spPr>
          <a:xfrm>
            <a:off x="7114031" y="3815334"/>
            <a:ext cx="427299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AEBCD1"/>
                </a:solidFill>
              </a:defRPr>
            </a:lvl1pPr>
          </a:lstStyle>
          <a:p>
            <a:pPr/>
            <a:r>
              <a:t>CAGR Wachstum des europäischen KI-Markts (IDC, Gartner)</a:t>
            </a:r>
          </a:p>
        </p:txBody>
      </p:sp>
      <p:sp>
        <p:nvSpPr>
          <p:cNvPr id="126" name="Shape 17"/>
          <p:cNvSpPr/>
          <p:nvPr/>
        </p:nvSpPr>
        <p:spPr>
          <a:xfrm>
            <a:off x="6949440" y="4343400"/>
            <a:ext cx="4602176" cy="1051561"/>
          </a:xfrm>
          <a:prstGeom prst="roundRect">
            <a:avLst>
              <a:gd name="adj" fmla="val 6957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18"/>
          <p:cNvSpPr txBox="1"/>
          <p:nvPr/>
        </p:nvSpPr>
        <p:spPr>
          <a:xfrm>
            <a:off x="7114031" y="4685262"/>
            <a:ext cx="427299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2600">
                <a:solidFill>
                  <a:srgbClr val="8B2AF8"/>
                </a:solidFill>
              </a:defRPr>
            </a:lvl1pPr>
          </a:lstStyle>
          <a:p>
            <a:pPr/>
            <a:r>
              <a:t>Phase 1 → 2</a:t>
            </a:r>
          </a:p>
        </p:txBody>
      </p:sp>
      <p:sp>
        <p:nvSpPr>
          <p:cNvPr id="128" name="Text 19"/>
          <p:cNvSpPr txBox="1"/>
          <p:nvPr/>
        </p:nvSpPr>
        <p:spPr>
          <a:xfrm>
            <a:off x="7114031" y="5049773"/>
            <a:ext cx="427299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AEBCD1"/>
                </a:solidFill>
              </a:defRPr>
            </a:lvl1pPr>
          </a:lstStyle>
          <a:p>
            <a:pPr/>
            <a:r>
              <a:t>DACH zuerst, dann Niederlande / Nordics / UK</a:t>
            </a:r>
          </a:p>
        </p:txBody>
      </p:sp>
      <p:sp>
        <p:nvSpPr>
          <p:cNvPr id="129" name="Text 20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13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ext 21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WETTBEWERBSVORTEILE</a:t>
            </a:r>
          </a:p>
        </p:txBody>
      </p:sp>
      <p:sp>
        <p:nvSpPr>
          <p:cNvPr id="134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Warum PrivateMind?</a:t>
            </a:r>
          </a:p>
        </p:txBody>
      </p:sp>
      <p:graphicFrame>
        <p:nvGraphicFramePr>
          <p:cNvPr id="135" name="Table 0"/>
          <p:cNvGraphicFramePr/>
          <p:nvPr/>
        </p:nvGraphicFramePr>
        <p:xfrm>
          <a:off x="640080" y="1691639"/>
          <a:ext cx="10960638" cy="201168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023359"/>
                <a:gridCol w="4023359"/>
                <a:gridCol w="2913918"/>
              </a:tblGrid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Wettbewerber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Schwäche aus KMU-Sicht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PrivateMind-Vorteil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ChatGPT Enterprise / Copilot 365 / Gemini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Cloud-basiert, DSGVO-kritisch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Lokale Datenhaltung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Ollama / LocalAI / LM Studio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Kein Support-SLA, IT-Expertise nötig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Schlüsselfertig, mit Support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NVIDIA DGX Spark (direkt)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Kein Service, teurer als ASUS GX10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Service + günstigere Hardware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136" name="Shape 2"/>
          <p:cNvSpPr/>
          <p:nvPr/>
        </p:nvSpPr>
        <p:spPr>
          <a:xfrm>
            <a:off x="1276960" y="4114800"/>
            <a:ext cx="1702613" cy="365760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3"/>
          <p:cNvSpPr txBox="1"/>
          <p:nvPr/>
        </p:nvSpPr>
        <p:spPr>
          <a:xfrm>
            <a:off x="1276960" y="4229144"/>
            <a:ext cx="170261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Datensouveränität</a:t>
            </a:r>
          </a:p>
        </p:txBody>
      </p:sp>
      <p:sp>
        <p:nvSpPr>
          <p:cNvPr id="138" name="Shape 4"/>
          <p:cNvSpPr/>
          <p:nvPr/>
        </p:nvSpPr>
        <p:spPr>
          <a:xfrm>
            <a:off x="3162451" y="4114800"/>
            <a:ext cx="2095806" cy="365760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 w="12700">
            <a:solidFill>
              <a:srgbClr val="8B2AF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5"/>
          <p:cNvSpPr txBox="1"/>
          <p:nvPr/>
        </p:nvSpPr>
        <p:spPr>
          <a:xfrm>
            <a:off x="3162451" y="4229144"/>
            <a:ext cx="2095806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Zero-Expertise-Betrieb</a:t>
            </a:r>
          </a:p>
        </p:txBody>
      </p:sp>
      <p:sp>
        <p:nvSpPr>
          <p:cNvPr id="140" name="Shape 6"/>
          <p:cNvSpPr/>
          <p:nvPr/>
        </p:nvSpPr>
        <p:spPr>
          <a:xfrm>
            <a:off x="5441136" y="4114800"/>
            <a:ext cx="1781252" cy="365760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7"/>
          <p:cNvSpPr txBox="1"/>
          <p:nvPr/>
        </p:nvSpPr>
        <p:spPr>
          <a:xfrm>
            <a:off x="5441136" y="4229144"/>
            <a:ext cx="178125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Laufende Betreuung</a:t>
            </a:r>
          </a:p>
        </p:txBody>
      </p:sp>
      <p:sp>
        <p:nvSpPr>
          <p:cNvPr id="142" name="Shape 8"/>
          <p:cNvSpPr/>
          <p:nvPr/>
        </p:nvSpPr>
        <p:spPr>
          <a:xfrm>
            <a:off x="7405268" y="4114800"/>
            <a:ext cx="1623975" cy="365760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 w="12700">
            <a:solidFill>
              <a:srgbClr val="8B2AF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9"/>
          <p:cNvSpPr txBox="1"/>
          <p:nvPr/>
        </p:nvSpPr>
        <p:spPr>
          <a:xfrm>
            <a:off x="7405268" y="4229144"/>
            <a:ext cx="162397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NVIDIA-Ökosystem</a:t>
            </a:r>
          </a:p>
        </p:txBody>
      </p:sp>
      <p:sp>
        <p:nvSpPr>
          <p:cNvPr id="144" name="Shape 10"/>
          <p:cNvSpPr/>
          <p:nvPr/>
        </p:nvSpPr>
        <p:spPr>
          <a:xfrm>
            <a:off x="9212122" y="4114800"/>
            <a:ext cx="1702614" cy="365760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11"/>
          <p:cNvSpPr txBox="1"/>
          <p:nvPr/>
        </p:nvSpPr>
        <p:spPr>
          <a:xfrm>
            <a:off x="9212122" y="4229144"/>
            <a:ext cx="170261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Europäische Werte</a:t>
            </a:r>
          </a:p>
        </p:txBody>
      </p:sp>
      <p:sp>
        <p:nvSpPr>
          <p:cNvPr id="146" name="Text 12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14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Text 13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TRAKTION &amp; MEILENSTEINE</a:t>
            </a:r>
          </a:p>
        </p:txBody>
      </p:sp>
      <p:sp>
        <p:nvSpPr>
          <p:cNvPr id="151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Von der Idee zur Umsetzung</a:t>
            </a:r>
          </a:p>
        </p:txBody>
      </p:sp>
      <p:sp>
        <p:nvSpPr>
          <p:cNvPr id="152" name="Shape 2"/>
          <p:cNvSpPr/>
          <p:nvPr/>
        </p:nvSpPr>
        <p:spPr>
          <a:xfrm>
            <a:off x="640080" y="1691639"/>
            <a:ext cx="3429001" cy="1234441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hape 3"/>
          <p:cNvSpPr/>
          <p:nvPr/>
        </p:nvSpPr>
        <p:spPr>
          <a:xfrm>
            <a:off x="841247" y="1911095"/>
            <a:ext cx="146305" cy="146305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4"/>
          <p:cNvSpPr txBox="1"/>
          <p:nvPr/>
        </p:nvSpPr>
        <p:spPr>
          <a:xfrm>
            <a:off x="1133855" y="1819655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Demo-Gerät</a:t>
            </a:r>
          </a:p>
        </p:txBody>
      </p:sp>
      <p:sp>
        <p:nvSpPr>
          <p:cNvPr id="155" name="Text 5"/>
          <p:cNvSpPr txBox="1"/>
          <p:nvPr/>
        </p:nvSpPr>
        <p:spPr>
          <a:xfrm>
            <a:off x="841247" y="2240279"/>
            <a:ext cx="3026666" cy="319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ASUS Ascent GX10 (4 TB) bereits vorhanden und im Einsatz.</a:t>
            </a:r>
          </a:p>
        </p:txBody>
      </p:sp>
      <p:sp>
        <p:nvSpPr>
          <p:cNvPr id="156" name="Shape 6"/>
          <p:cNvSpPr/>
          <p:nvPr/>
        </p:nvSpPr>
        <p:spPr>
          <a:xfrm>
            <a:off x="4325111" y="1691639"/>
            <a:ext cx="3429001" cy="1234441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Shape 7"/>
          <p:cNvSpPr/>
          <p:nvPr/>
        </p:nvSpPr>
        <p:spPr>
          <a:xfrm>
            <a:off x="4526279" y="1911095"/>
            <a:ext cx="146305" cy="146305"/>
          </a:xfrm>
          <a:prstGeom prst="ellipse">
            <a:avLst/>
          </a:prstGeom>
          <a:solidFill>
            <a:srgbClr val="8B2A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8"/>
          <p:cNvSpPr txBox="1"/>
          <p:nvPr/>
        </p:nvSpPr>
        <p:spPr>
          <a:xfrm>
            <a:off x="4818888" y="1819655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Website</a:t>
            </a:r>
          </a:p>
        </p:txBody>
      </p:sp>
      <p:sp>
        <p:nvSpPr>
          <p:cNvPr id="159" name="Text 9"/>
          <p:cNvSpPr txBox="1"/>
          <p:nvPr/>
        </p:nvSpPr>
        <p:spPr>
          <a:xfrm>
            <a:off x="4526279" y="2240279"/>
            <a:ext cx="302666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Auf Odoo 18.0 erstellt — Launch steht kurz bevor.</a:t>
            </a:r>
          </a:p>
        </p:txBody>
      </p:sp>
      <p:sp>
        <p:nvSpPr>
          <p:cNvPr id="160" name="Shape 10"/>
          <p:cNvSpPr/>
          <p:nvPr/>
        </p:nvSpPr>
        <p:spPr>
          <a:xfrm>
            <a:off x="8010143" y="1691639"/>
            <a:ext cx="3429001" cy="1234441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Shape 11"/>
          <p:cNvSpPr/>
          <p:nvPr/>
        </p:nvSpPr>
        <p:spPr>
          <a:xfrm>
            <a:off x="8211311" y="1911095"/>
            <a:ext cx="146305" cy="146305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12"/>
          <p:cNvSpPr txBox="1"/>
          <p:nvPr/>
        </p:nvSpPr>
        <p:spPr>
          <a:xfrm>
            <a:off x="8503919" y="1819655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Förderanträge</a:t>
            </a:r>
          </a:p>
        </p:txBody>
      </p:sp>
      <p:sp>
        <p:nvSpPr>
          <p:cNvPr id="163" name="Text 13"/>
          <p:cNvSpPr txBox="1"/>
          <p:nvPr/>
        </p:nvSpPr>
        <p:spPr>
          <a:xfrm>
            <a:off x="8211311" y="2240279"/>
            <a:ext cx="3026666" cy="319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Gründungszuschuss (§ 93 SGB III), InnoStartBonus Sachsen.</a:t>
            </a:r>
          </a:p>
        </p:txBody>
      </p:sp>
      <p:graphicFrame>
        <p:nvGraphicFramePr>
          <p:cNvPr id="164" name="Table 0"/>
          <p:cNvGraphicFramePr/>
          <p:nvPr/>
        </p:nvGraphicFramePr>
        <p:xfrm>
          <a:off x="640080" y="3246120"/>
          <a:ext cx="10960638" cy="21945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1679"/>
                <a:gridCol w="8948958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Zeitraum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Ziel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GZ-Bewilligung, GmbH-Gründung, 3–5 Pilotkunden, mind. 2 zahlend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2027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Englischsprachige Website live, europäische Expansion, 10 aktive Kunden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2028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Break-even operativ (~17–25 aktive Kunden), erste Mitarbeiter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165" name="Text 14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16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 15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TEAM</a:t>
            </a:r>
          </a:p>
        </p:txBody>
      </p:sp>
      <p:sp>
        <p:nvSpPr>
          <p:cNvPr id="170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Raffael Reichelt — Gründer &amp; Geschäftsführer</a:t>
            </a:r>
          </a:p>
        </p:txBody>
      </p:sp>
      <p:sp>
        <p:nvSpPr>
          <p:cNvPr id="171" name="Shape 2"/>
          <p:cNvSpPr/>
          <p:nvPr/>
        </p:nvSpPr>
        <p:spPr>
          <a:xfrm>
            <a:off x="640079" y="1965959"/>
            <a:ext cx="2103122" cy="2103122"/>
          </a:xfrm>
          <a:prstGeom prst="ellipse">
            <a:avLst/>
          </a:prstGeom>
          <a:solidFill>
            <a:srgbClr val="1A2338"/>
          </a:solidFill>
          <a:ln w="254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3"/>
          <p:cNvSpPr txBox="1"/>
          <p:nvPr/>
        </p:nvSpPr>
        <p:spPr>
          <a:xfrm>
            <a:off x="640079" y="2736284"/>
            <a:ext cx="2103122" cy="5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400">
                <a:solidFill>
                  <a:srgbClr val="00D4FF"/>
                </a:solidFill>
              </a:defRPr>
            </a:lvl1pPr>
          </a:lstStyle>
          <a:p>
            <a:pPr/>
            <a:r>
              <a:t>RR</a:t>
            </a:r>
          </a:p>
        </p:txBody>
      </p:sp>
      <p:sp>
        <p:nvSpPr>
          <p:cNvPr id="173" name="Text 4"/>
          <p:cNvSpPr txBox="1"/>
          <p:nvPr/>
        </p:nvSpPr>
        <p:spPr>
          <a:xfrm>
            <a:off x="3383279" y="2035986"/>
            <a:ext cx="816833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00D4FF"/>
                </a:solidFill>
              </a:defRPr>
            </a:lvl1pPr>
          </a:lstStyle>
          <a:p>
            <a:pPr/>
            <a:r>
              <a:t>ERFAHRUNG</a:t>
            </a:r>
          </a:p>
        </p:txBody>
      </p:sp>
      <p:sp>
        <p:nvSpPr>
          <p:cNvPr id="174" name="Text 5"/>
          <p:cNvSpPr txBox="1"/>
          <p:nvPr/>
        </p:nvSpPr>
        <p:spPr>
          <a:xfrm>
            <a:off x="3383279" y="2240279"/>
            <a:ext cx="8168335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AEBCD1"/>
                </a:solidFill>
              </a:defRPr>
            </a:lvl1pPr>
          </a:lstStyle>
          <a:p>
            <a:pPr/>
            <a:r>
              <a:t>über 30 Jahre Softwareentwicklung, Architektur, Projekt- und Teamleitung</a:t>
            </a:r>
          </a:p>
        </p:txBody>
      </p:sp>
      <p:sp>
        <p:nvSpPr>
          <p:cNvPr id="175" name="Text 6"/>
          <p:cNvSpPr txBox="1"/>
          <p:nvPr/>
        </p:nvSpPr>
        <p:spPr>
          <a:xfrm>
            <a:off x="3383279" y="2996106"/>
            <a:ext cx="816833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00D4FF"/>
                </a:solidFill>
              </a:defRPr>
            </a:lvl1pPr>
          </a:lstStyle>
          <a:p>
            <a:pPr/>
            <a:r>
              <a:t>STATIONEN</a:t>
            </a:r>
          </a:p>
        </p:txBody>
      </p:sp>
      <p:sp>
        <p:nvSpPr>
          <p:cNvPr id="176" name="Text 7"/>
          <p:cNvSpPr txBox="1"/>
          <p:nvPr/>
        </p:nvSpPr>
        <p:spPr>
          <a:xfrm>
            <a:off x="3383279" y="3200400"/>
            <a:ext cx="816833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AEBCD1"/>
                </a:solidFill>
              </a:defRPr>
            </a:lvl1pPr>
          </a:lstStyle>
          <a:p>
            <a:pPr/>
            <a:r>
              <a:t>13 Jahre HSE24 / hot networks AG (Head of IT Development Services), zuletzt ConfigPoint (bis 2026)</a:t>
            </a:r>
          </a:p>
        </p:txBody>
      </p:sp>
      <p:sp>
        <p:nvSpPr>
          <p:cNvPr id="177" name="Text 8"/>
          <p:cNvSpPr txBox="1"/>
          <p:nvPr/>
        </p:nvSpPr>
        <p:spPr>
          <a:xfrm>
            <a:off x="3383279" y="3956226"/>
            <a:ext cx="816833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00D4FF"/>
                </a:solidFill>
              </a:defRPr>
            </a:lvl1pPr>
          </a:lstStyle>
          <a:p>
            <a:pPr/>
            <a:r>
              <a:t>ROLLEN</a:t>
            </a:r>
          </a:p>
        </p:txBody>
      </p:sp>
      <p:sp>
        <p:nvSpPr>
          <p:cNvPr id="178" name="Text 9"/>
          <p:cNvSpPr txBox="1"/>
          <p:nvPr/>
        </p:nvSpPr>
        <p:spPr>
          <a:xfrm>
            <a:off x="3383279" y="4160520"/>
            <a:ext cx="816833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AEBCD1"/>
                </a:solidFill>
              </a:defRPr>
            </a:lvl1pPr>
          </a:lstStyle>
          <a:p>
            <a:pPr/>
            <a:r>
              <a:t>Entwickler, Architekt, Consultant, Projekt- &amp; Teamleiter, Technologieberater</a:t>
            </a:r>
          </a:p>
        </p:txBody>
      </p:sp>
      <p:sp>
        <p:nvSpPr>
          <p:cNvPr id="179" name="Text 10"/>
          <p:cNvSpPr txBox="1"/>
          <p:nvPr/>
        </p:nvSpPr>
        <p:spPr>
          <a:xfrm>
            <a:off x="3383279" y="4916346"/>
            <a:ext cx="816833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00D4FF"/>
                </a:solidFill>
              </a:defRPr>
            </a:lvl1pPr>
          </a:lstStyle>
          <a:p>
            <a:pPr/>
            <a:r>
              <a:t>MOTIVATION</a:t>
            </a:r>
          </a:p>
        </p:txBody>
      </p:sp>
      <p:sp>
        <p:nvSpPr>
          <p:cNvPr id="180" name="Text 11"/>
          <p:cNvSpPr txBox="1"/>
          <p:nvPr/>
        </p:nvSpPr>
        <p:spPr>
          <a:xfrm>
            <a:off x="3383279" y="5120640"/>
            <a:ext cx="8168335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AEBCD1"/>
                </a:solidFill>
              </a:defRPr>
            </a:lvl1pPr>
          </a:lstStyle>
          <a:p>
            <a:pPr/>
            <a:r>
              <a:t>„KMU brauchen lokale KI — ohne Kompromisse.“</a:t>
            </a:r>
          </a:p>
        </p:txBody>
      </p:sp>
      <p:sp>
        <p:nvSpPr>
          <p:cNvPr id="181" name="Text 12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18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 13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FINANZPLAN</a:t>
            </a:r>
          </a:p>
        </p:txBody>
      </p:sp>
      <p:sp>
        <p:nvSpPr>
          <p:cNvPr id="186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Solide kalkuliert, schnell tragfähig</a:t>
            </a:r>
          </a:p>
        </p:txBody>
      </p:sp>
      <p:sp>
        <p:nvSpPr>
          <p:cNvPr id="187" name="Shape 2"/>
          <p:cNvSpPr/>
          <p:nvPr/>
        </p:nvSpPr>
        <p:spPr>
          <a:xfrm>
            <a:off x="640080" y="1874520"/>
            <a:ext cx="2578608" cy="1600201"/>
          </a:xfrm>
          <a:prstGeom prst="roundRect">
            <a:avLst>
              <a:gd name="adj" fmla="val 4571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3"/>
          <p:cNvSpPr txBox="1"/>
          <p:nvPr/>
        </p:nvSpPr>
        <p:spPr>
          <a:xfrm>
            <a:off x="804672" y="2518134"/>
            <a:ext cx="2249424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2600">
                <a:solidFill>
                  <a:srgbClr val="00D4FF"/>
                </a:solidFill>
              </a:defRPr>
            </a:lvl1pPr>
          </a:lstStyle>
          <a:p>
            <a:pPr/>
            <a:r>
              <a:t>€6.700</a:t>
            </a:r>
          </a:p>
        </p:txBody>
      </p:sp>
      <p:sp>
        <p:nvSpPr>
          <p:cNvPr id="189" name="Text 4"/>
          <p:cNvSpPr txBox="1"/>
          <p:nvPr/>
        </p:nvSpPr>
        <p:spPr>
          <a:xfrm>
            <a:off x="804672" y="2882645"/>
            <a:ext cx="2249424" cy="494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AEBCD1"/>
                </a:solidFill>
              </a:defRPr>
            </a:lvl1pPr>
          </a:lstStyle>
          <a:p>
            <a:pPr/>
            <a:r>
              <a:t>Gründungskosten einmalig — Notar, Handelsregister, Rechts-/Steuerberatung, Marketing</a:t>
            </a:r>
          </a:p>
        </p:txBody>
      </p:sp>
      <p:sp>
        <p:nvSpPr>
          <p:cNvPr id="190" name="Shape 5"/>
          <p:cNvSpPr/>
          <p:nvPr/>
        </p:nvSpPr>
        <p:spPr>
          <a:xfrm>
            <a:off x="3456432" y="1874520"/>
            <a:ext cx="2578608" cy="1600201"/>
          </a:xfrm>
          <a:prstGeom prst="roundRect">
            <a:avLst>
              <a:gd name="adj" fmla="val 4571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6"/>
          <p:cNvSpPr txBox="1"/>
          <p:nvPr/>
        </p:nvSpPr>
        <p:spPr>
          <a:xfrm>
            <a:off x="3621023" y="2518134"/>
            <a:ext cx="2249425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2600">
                <a:solidFill>
                  <a:srgbClr val="8B2AF8"/>
                </a:solidFill>
              </a:defRPr>
            </a:lvl1pPr>
          </a:lstStyle>
          <a:p>
            <a:pPr/>
            <a:r>
              <a:t>€11.500</a:t>
            </a:r>
          </a:p>
        </p:txBody>
      </p:sp>
      <p:sp>
        <p:nvSpPr>
          <p:cNvPr id="192" name="Text 7"/>
          <p:cNvSpPr txBox="1"/>
          <p:nvPr/>
        </p:nvSpPr>
        <p:spPr>
          <a:xfrm>
            <a:off x="3621023" y="2882645"/>
            <a:ext cx="2249425" cy="315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AEBCD1"/>
                </a:solidFill>
              </a:defRPr>
            </a:lvl1pPr>
          </a:lstStyle>
          <a:p>
            <a:pPr/>
            <a:r>
              <a:t>Monatliche Fixkosten, davon €9.600 GF-Vollkosten (€5.000 netto Gründergehalt)</a:t>
            </a:r>
          </a:p>
        </p:txBody>
      </p:sp>
      <p:sp>
        <p:nvSpPr>
          <p:cNvPr id="193" name="Shape 8"/>
          <p:cNvSpPr/>
          <p:nvPr/>
        </p:nvSpPr>
        <p:spPr>
          <a:xfrm>
            <a:off x="6272784" y="1874520"/>
            <a:ext cx="2578609" cy="1600201"/>
          </a:xfrm>
          <a:prstGeom prst="roundRect">
            <a:avLst>
              <a:gd name="adj" fmla="val 4571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9"/>
          <p:cNvSpPr txBox="1"/>
          <p:nvPr/>
        </p:nvSpPr>
        <p:spPr>
          <a:xfrm>
            <a:off x="6437376" y="2518134"/>
            <a:ext cx="2249425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2600">
                <a:solidFill>
                  <a:srgbClr val="00D4FF"/>
                </a:solidFill>
              </a:defRPr>
            </a:lvl1pPr>
          </a:lstStyle>
          <a:p>
            <a:pPr/>
            <a:r>
              <a:t>Q3 / Jahr 2</a:t>
            </a:r>
          </a:p>
        </p:txBody>
      </p:sp>
      <p:sp>
        <p:nvSpPr>
          <p:cNvPr id="195" name="Text 10"/>
          <p:cNvSpPr txBox="1"/>
          <p:nvPr/>
        </p:nvSpPr>
        <p:spPr>
          <a:xfrm>
            <a:off x="6437376" y="2882645"/>
            <a:ext cx="2249425" cy="315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AEBCD1"/>
                </a:solidFill>
              </a:defRPr>
            </a:lvl1pPr>
          </a:lstStyle>
          <a:p>
            <a:pPr/>
            <a:r>
              <a:t>Operativer Break-even bei ~17 Professional- bzw. 20–25 Mischkunden</a:t>
            </a:r>
          </a:p>
        </p:txBody>
      </p:sp>
      <p:sp>
        <p:nvSpPr>
          <p:cNvPr id="196" name="Shape 11"/>
          <p:cNvSpPr/>
          <p:nvPr/>
        </p:nvSpPr>
        <p:spPr>
          <a:xfrm>
            <a:off x="9089135" y="1874520"/>
            <a:ext cx="2578609" cy="1600201"/>
          </a:xfrm>
          <a:prstGeom prst="roundRect">
            <a:avLst>
              <a:gd name="adj" fmla="val 4571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2"/>
          <p:cNvSpPr txBox="1"/>
          <p:nvPr/>
        </p:nvSpPr>
        <p:spPr>
          <a:xfrm>
            <a:off x="9253728" y="2518134"/>
            <a:ext cx="2249425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2600">
                <a:solidFill>
                  <a:srgbClr val="8B2AF8"/>
                </a:solidFill>
              </a:defRPr>
            </a:lvl1pPr>
          </a:lstStyle>
          <a:p>
            <a:pPr/>
            <a:r>
              <a:t>€63k–180k</a:t>
            </a:r>
          </a:p>
        </p:txBody>
      </p:sp>
      <p:sp>
        <p:nvSpPr>
          <p:cNvPr id="198" name="Text 13"/>
          <p:cNvSpPr txBox="1"/>
          <p:nvPr/>
        </p:nvSpPr>
        <p:spPr>
          <a:xfrm>
            <a:off x="9253728" y="2882645"/>
            <a:ext cx="2249425" cy="315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AEBCD1"/>
                </a:solidFill>
              </a:defRPr>
            </a:lvl1pPr>
          </a:lstStyle>
          <a:p>
            <a:pPr/>
            <a:r>
              <a:t>Umsatzprognose Jahr 1 — konservativ bis optimistisch</a:t>
            </a:r>
          </a:p>
        </p:txBody>
      </p:sp>
      <p:sp>
        <p:nvSpPr>
          <p:cNvPr id="199" name="Text 14"/>
          <p:cNvSpPr txBox="1"/>
          <p:nvPr/>
        </p:nvSpPr>
        <p:spPr>
          <a:xfrm>
            <a:off x="640079" y="389920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AEBCD1"/>
                </a:solidFill>
              </a:defRPr>
            </a:lvl1pPr>
          </a:lstStyle>
          <a:p>
            <a:pPr/>
            <a:r>
              <a:t>Website und Demo-Gerät sind bereits vorhanden — kein zusätzlicher Investitionsbedarf zum Start.</a:t>
            </a:r>
          </a:p>
        </p:txBody>
      </p:sp>
      <p:sp>
        <p:nvSpPr>
          <p:cNvPr id="200" name="Text 15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20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Text 16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FINANZIERUNGSSTRATEGIE</a:t>
            </a:r>
          </a:p>
        </p:txBody>
      </p:sp>
      <p:sp>
        <p:nvSpPr>
          <p:cNvPr id="205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Eigenkapital &amp; Förderdarlehen — kein Investor</a:t>
            </a:r>
          </a:p>
        </p:txBody>
      </p:sp>
      <p:graphicFrame>
        <p:nvGraphicFramePr>
          <p:cNvPr id="206" name="Table 0"/>
          <p:cNvGraphicFramePr/>
          <p:nvPr/>
        </p:nvGraphicFramePr>
        <p:xfrm>
          <a:off x="640080" y="1737360"/>
          <a:ext cx="10777759" cy="241401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120640"/>
                <a:gridCol w="2560320"/>
                <a:gridCol w="3096798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Quelle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Betrag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Empfänger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202B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Stammkapital (Eigenkapital)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€25.000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GmbH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KfW ERP-Gründerkredit StartGeld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€100.000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GmbH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SAB Mikrodarlehen Sachsen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€20.000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GmbH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Gründungszuschuss (15 Mon., ca.)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€16.500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Gründer persönlich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11A2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InnoStartBonus Sachsen (in Prüfung)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€12.600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AEBCD1"/>
                          </a:solidFill>
                        </a:rPr>
                        <a:t>Gründer persönlich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222C42"/>
                      </a:solidFill>
                    </a:lnL>
                    <a:lnR>
                      <a:solidFill>
                        <a:srgbClr val="222C42"/>
                      </a:solidFill>
                    </a:lnR>
                    <a:lnT>
                      <a:solidFill>
                        <a:srgbClr val="222C42"/>
                      </a:solidFill>
                    </a:lnT>
                    <a:lnB>
                      <a:solidFill>
                        <a:srgbClr val="222C42"/>
                      </a:solidFill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207" name="Shape 2"/>
          <p:cNvSpPr/>
          <p:nvPr/>
        </p:nvSpPr>
        <p:spPr>
          <a:xfrm>
            <a:off x="640080" y="4892040"/>
            <a:ext cx="10911535" cy="777241"/>
          </a:xfrm>
          <a:prstGeom prst="roundRect">
            <a:avLst>
              <a:gd name="adj" fmla="val 9412"/>
            </a:avLst>
          </a:prstGeom>
          <a:solidFill>
            <a:srgbClr val="1A2338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3"/>
          <p:cNvSpPr txBox="1"/>
          <p:nvPr/>
        </p:nvSpPr>
        <p:spPr>
          <a:xfrm>
            <a:off x="914399" y="5185980"/>
            <a:ext cx="1036289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Kapitalbedarf Jahr 1: </a:t>
            </a:r>
            <a:r>
              <a:rPr b="0">
                <a:solidFill>
                  <a:srgbClr val="AEBCD1"/>
                </a:solidFill>
              </a:rPr>
              <a:t>€128.400 — vollständig gedeckt (Puffer €16.600), ohne externen Investor.</a:t>
            </a:r>
          </a:p>
        </p:txBody>
      </p:sp>
      <p:sp>
        <p:nvSpPr>
          <p:cNvPr id="209" name="Text 4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21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Text 5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VISION &amp; ZIELE</a:t>
            </a:r>
          </a:p>
        </p:txBody>
      </p:sp>
      <p:sp>
        <p:nvSpPr>
          <p:cNvPr id="214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Der Weg zum führenden Anbieter</a:t>
            </a:r>
          </a:p>
        </p:txBody>
      </p:sp>
      <p:sp>
        <p:nvSpPr>
          <p:cNvPr id="215" name="Shape 2"/>
          <p:cNvSpPr/>
          <p:nvPr/>
        </p:nvSpPr>
        <p:spPr>
          <a:xfrm>
            <a:off x="640080" y="1965960"/>
            <a:ext cx="3429001" cy="3749041"/>
          </a:xfrm>
          <a:prstGeom prst="roundRect">
            <a:avLst>
              <a:gd name="adj" fmla="val 2133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hape 3"/>
          <p:cNvSpPr/>
          <p:nvPr/>
        </p:nvSpPr>
        <p:spPr>
          <a:xfrm>
            <a:off x="896111" y="2221992"/>
            <a:ext cx="457201" cy="457201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4"/>
          <p:cNvSpPr txBox="1"/>
          <p:nvPr/>
        </p:nvSpPr>
        <p:spPr>
          <a:xfrm>
            <a:off x="896111" y="2329768"/>
            <a:ext cx="4572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0A0E1A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8" name="Text 5"/>
          <p:cNvSpPr txBox="1"/>
          <p:nvPr/>
        </p:nvSpPr>
        <p:spPr>
          <a:xfrm>
            <a:off x="896112" y="2904666"/>
            <a:ext cx="291693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00D4FF"/>
                </a:solidFill>
              </a:defRPr>
            </a:lvl1pPr>
          </a:lstStyle>
          <a:p>
            <a:pPr/>
            <a:r>
              <a:t>2026–2027</a:t>
            </a:r>
          </a:p>
        </p:txBody>
      </p:sp>
      <p:sp>
        <p:nvSpPr>
          <p:cNvPr id="219" name="Text 6"/>
          <p:cNvSpPr txBox="1"/>
          <p:nvPr/>
        </p:nvSpPr>
        <p:spPr>
          <a:xfrm>
            <a:off x="896112" y="3182314"/>
            <a:ext cx="2916936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Kurzfristig</a:t>
            </a:r>
          </a:p>
        </p:txBody>
      </p:sp>
      <p:sp>
        <p:nvSpPr>
          <p:cNvPr id="220" name="Text 7"/>
          <p:cNvSpPr txBox="1"/>
          <p:nvPr/>
        </p:nvSpPr>
        <p:spPr>
          <a:xfrm>
            <a:off x="896112" y="3566159"/>
            <a:ext cx="2916936" cy="631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AEBCD1"/>
                </a:solidFill>
              </a:defRPr>
            </a:lvl1pPr>
          </a:lstStyle>
          <a:p>
            <a:pPr/>
            <a:r>
              <a:t>3–5 Pilotkunden (mind. 2 zahlend) bis Ende 2026. Europäische Expansion — Ziel: 10 aktive Kunden Ende 2027.</a:t>
            </a:r>
          </a:p>
        </p:txBody>
      </p:sp>
      <p:sp>
        <p:nvSpPr>
          <p:cNvPr id="221" name="Shape 8"/>
          <p:cNvSpPr/>
          <p:nvPr/>
        </p:nvSpPr>
        <p:spPr>
          <a:xfrm>
            <a:off x="4325111" y="1965960"/>
            <a:ext cx="3429001" cy="3749041"/>
          </a:xfrm>
          <a:prstGeom prst="roundRect">
            <a:avLst>
              <a:gd name="adj" fmla="val 2133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Shape 9"/>
          <p:cNvSpPr/>
          <p:nvPr/>
        </p:nvSpPr>
        <p:spPr>
          <a:xfrm>
            <a:off x="4581144" y="2221992"/>
            <a:ext cx="457201" cy="457201"/>
          </a:xfrm>
          <a:prstGeom prst="ellipse">
            <a:avLst/>
          </a:prstGeom>
          <a:solidFill>
            <a:srgbClr val="8B2A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10"/>
          <p:cNvSpPr txBox="1"/>
          <p:nvPr/>
        </p:nvSpPr>
        <p:spPr>
          <a:xfrm>
            <a:off x="4581144" y="2329768"/>
            <a:ext cx="4572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0A0E1A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4" name="Text 11"/>
          <p:cNvSpPr txBox="1"/>
          <p:nvPr/>
        </p:nvSpPr>
        <p:spPr>
          <a:xfrm>
            <a:off x="4581144" y="2904666"/>
            <a:ext cx="291693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8B2AF8"/>
                </a:solidFill>
              </a:defRPr>
            </a:lvl1pPr>
          </a:lstStyle>
          <a:p>
            <a:pPr/>
            <a:r>
              <a:t>2028–2029</a:t>
            </a:r>
          </a:p>
        </p:txBody>
      </p:sp>
      <p:sp>
        <p:nvSpPr>
          <p:cNvPr id="225" name="Text 12"/>
          <p:cNvSpPr txBox="1"/>
          <p:nvPr/>
        </p:nvSpPr>
        <p:spPr>
          <a:xfrm>
            <a:off x="4581144" y="3182314"/>
            <a:ext cx="2916936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Mittelfristig</a:t>
            </a:r>
          </a:p>
        </p:txBody>
      </p:sp>
      <p:sp>
        <p:nvSpPr>
          <p:cNvPr id="226" name="Text 13"/>
          <p:cNvSpPr txBox="1"/>
          <p:nvPr/>
        </p:nvSpPr>
        <p:spPr>
          <a:xfrm>
            <a:off x="4581144" y="3566159"/>
            <a:ext cx="2916936" cy="631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AEBCD1"/>
                </a:solidFill>
              </a:defRPr>
            </a:lvl1pPr>
          </a:lstStyle>
          <a:p>
            <a:pPr/>
            <a:r>
              <a:t>Operativer Break-even, erste Mitarbeiter. Aufbau eines Reseller-/MSP-Partnernetzwerks, Team wächst auf 4–6 Personen.</a:t>
            </a:r>
          </a:p>
        </p:txBody>
      </p:sp>
      <p:sp>
        <p:nvSpPr>
          <p:cNvPr id="227" name="Shape 14"/>
          <p:cNvSpPr/>
          <p:nvPr/>
        </p:nvSpPr>
        <p:spPr>
          <a:xfrm>
            <a:off x="8010143" y="1965960"/>
            <a:ext cx="3429001" cy="3749041"/>
          </a:xfrm>
          <a:prstGeom prst="roundRect">
            <a:avLst>
              <a:gd name="adj" fmla="val 2133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Shape 15"/>
          <p:cNvSpPr/>
          <p:nvPr/>
        </p:nvSpPr>
        <p:spPr>
          <a:xfrm>
            <a:off x="8266176" y="2221992"/>
            <a:ext cx="457201" cy="457201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16"/>
          <p:cNvSpPr txBox="1"/>
          <p:nvPr/>
        </p:nvSpPr>
        <p:spPr>
          <a:xfrm>
            <a:off x="8266176" y="2329768"/>
            <a:ext cx="4572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0A0E1A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0" name="Text 17"/>
          <p:cNvSpPr txBox="1"/>
          <p:nvPr/>
        </p:nvSpPr>
        <p:spPr>
          <a:xfrm>
            <a:off x="8266176" y="2904666"/>
            <a:ext cx="291693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00D4FF"/>
                </a:solidFill>
              </a:defRPr>
            </a:lvl1pPr>
          </a:lstStyle>
          <a:p>
            <a:pPr/>
            <a:r>
              <a:t>2030+</a:t>
            </a:r>
          </a:p>
        </p:txBody>
      </p:sp>
      <p:sp>
        <p:nvSpPr>
          <p:cNvPr id="231" name="Text 18"/>
          <p:cNvSpPr txBox="1"/>
          <p:nvPr/>
        </p:nvSpPr>
        <p:spPr>
          <a:xfrm>
            <a:off x="8266176" y="3182314"/>
            <a:ext cx="2916936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Langfristig</a:t>
            </a:r>
          </a:p>
        </p:txBody>
      </p:sp>
      <p:sp>
        <p:nvSpPr>
          <p:cNvPr id="232" name="Text 19"/>
          <p:cNvSpPr txBox="1"/>
          <p:nvPr/>
        </p:nvSpPr>
        <p:spPr>
          <a:xfrm>
            <a:off x="8266176" y="3566159"/>
            <a:ext cx="2916936" cy="631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200">
                <a:solidFill>
                  <a:srgbClr val="AEBCD1"/>
                </a:solidFill>
              </a:defRPr>
            </a:lvl1pPr>
          </a:lstStyle>
          <a:p>
            <a:pPr/>
            <a:r>
              <a:t>Führender Anbieter lokaler KI-Lösungen im DACH-Raum. Nachhaltiges, profitables Wachstum — Kapital nur bei Bedarf.</a:t>
            </a:r>
          </a:p>
        </p:txBody>
      </p:sp>
      <p:sp>
        <p:nvSpPr>
          <p:cNvPr id="233" name="Text 20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Text 21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 txBox="1"/>
          <p:nvPr/>
        </p:nvSpPr>
        <p:spPr>
          <a:xfrm>
            <a:off x="640079" y="538787"/>
            <a:ext cx="1091153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0D4FF"/>
                </a:solidFill>
              </a:defRPr>
            </a:lvl1pPr>
          </a:lstStyle>
          <a:p>
            <a:pPr/>
            <a:r>
              <a:t>STARKE ARGUMENTE</a:t>
            </a:r>
          </a:p>
        </p:txBody>
      </p:sp>
      <p:sp>
        <p:nvSpPr>
          <p:cNvPr id="238" name="Text 1"/>
          <p:cNvSpPr txBox="1"/>
          <p:nvPr/>
        </p:nvSpPr>
        <p:spPr>
          <a:xfrm>
            <a:off x="640079" y="893451"/>
            <a:ext cx="10911537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Was PrivateMind stark macht</a:t>
            </a:r>
          </a:p>
        </p:txBody>
      </p:sp>
      <p:sp>
        <p:nvSpPr>
          <p:cNvPr id="239" name="Shape 2"/>
          <p:cNvSpPr/>
          <p:nvPr/>
        </p:nvSpPr>
        <p:spPr>
          <a:xfrm>
            <a:off x="640080" y="1874520"/>
            <a:ext cx="3429001" cy="1874521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Shape 3"/>
          <p:cNvSpPr/>
          <p:nvPr/>
        </p:nvSpPr>
        <p:spPr>
          <a:xfrm>
            <a:off x="841247" y="2093976"/>
            <a:ext cx="146305" cy="146305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4"/>
          <p:cNvSpPr txBox="1"/>
          <p:nvPr/>
        </p:nvSpPr>
        <p:spPr>
          <a:xfrm>
            <a:off x="1133855" y="2002535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Wiederkehrende Einnahmen</a:t>
            </a:r>
          </a:p>
        </p:txBody>
      </p:sp>
      <p:sp>
        <p:nvSpPr>
          <p:cNvPr id="242" name="Text 5"/>
          <p:cNvSpPr txBox="1"/>
          <p:nvPr/>
        </p:nvSpPr>
        <p:spPr>
          <a:xfrm>
            <a:off x="841247" y="2423160"/>
            <a:ext cx="302666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Abo-Modell kombiniert mit Hardware-Marge.</a:t>
            </a:r>
          </a:p>
        </p:txBody>
      </p:sp>
      <p:sp>
        <p:nvSpPr>
          <p:cNvPr id="243" name="Shape 6"/>
          <p:cNvSpPr/>
          <p:nvPr/>
        </p:nvSpPr>
        <p:spPr>
          <a:xfrm>
            <a:off x="4325111" y="1874520"/>
            <a:ext cx="3429001" cy="1874521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Shape 7"/>
          <p:cNvSpPr/>
          <p:nvPr/>
        </p:nvSpPr>
        <p:spPr>
          <a:xfrm>
            <a:off x="4526279" y="2093976"/>
            <a:ext cx="146305" cy="146305"/>
          </a:xfrm>
          <a:prstGeom prst="ellipse">
            <a:avLst/>
          </a:prstGeom>
          <a:solidFill>
            <a:srgbClr val="8B2A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8"/>
          <p:cNvSpPr txBox="1"/>
          <p:nvPr/>
        </p:nvSpPr>
        <p:spPr>
          <a:xfrm>
            <a:off x="4818888" y="2002535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Wachstumsmarkt</a:t>
            </a:r>
          </a:p>
        </p:txBody>
      </p:sp>
      <p:sp>
        <p:nvSpPr>
          <p:cNvPr id="246" name="Text 9"/>
          <p:cNvSpPr txBox="1"/>
          <p:nvPr/>
        </p:nvSpPr>
        <p:spPr>
          <a:xfrm>
            <a:off x="4526279" y="2423160"/>
            <a:ext cx="302666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KI im KMU-Segment wächst um ~25–30 % CAGR.</a:t>
            </a:r>
          </a:p>
        </p:txBody>
      </p:sp>
      <p:sp>
        <p:nvSpPr>
          <p:cNvPr id="247" name="Shape 10"/>
          <p:cNvSpPr/>
          <p:nvPr/>
        </p:nvSpPr>
        <p:spPr>
          <a:xfrm>
            <a:off x="8010143" y="1874520"/>
            <a:ext cx="3429001" cy="1874521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Shape 11"/>
          <p:cNvSpPr/>
          <p:nvPr/>
        </p:nvSpPr>
        <p:spPr>
          <a:xfrm>
            <a:off x="8211311" y="2093976"/>
            <a:ext cx="146305" cy="146305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2"/>
          <p:cNvSpPr txBox="1"/>
          <p:nvPr/>
        </p:nvSpPr>
        <p:spPr>
          <a:xfrm>
            <a:off x="8503919" y="2002535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DSGVO-konform</a:t>
            </a:r>
          </a:p>
        </p:txBody>
      </p:sp>
      <p:sp>
        <p:nvSpPr>
          <p:cNvPr id="250" name="Text 13"/>
          <p:cNvSpPr txBox="1"/>
          <p:nvPr/>
        </p:nvSpPr>
        <p:spPr>
          <a:xfrm>
            <a:off x="8211311" y="2423160"/>
            <a:ext cx="302666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Klarer USP im europäischen Markt.</a:t>
            </a:r>
          </a:p>
        </p:txBody>
      </p:sp>
      <p:sp>
        <p:nvSpPr>
          <p:cNvPr id="251" name="Shape 14"/>
          <p:cNvSpPr/>
          <p:nvPr/>
        </p:nvSpPr>
        <p:spPr>
          <a:xfrm>
            <a:off x="640080" y="4005071"/>
            <a:ext cx="3429001" cy="1874521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Shape 15"/>
          <p:cNvSpPr/>
          <p:nvPr/>
        </p:nvSpPr>
        <p:spPr>
          <a:xfrm>
            <a:off x="841247" y="4224528"/>
            <a:ext cx="146305" cy="146305"/>
          </a:xfrm>
          <a:prstGeom prst="ellipse">
            <a:avLst/>
          </a:prstGeom>
          <a:solidFill>
            <a:srgbClr val="8B2A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16"/>
          <p:cNvSpPr txBox="1"/>
          <p:nvPr/>
        </p:nvSpPr>
        <p:spPr>
          <a:xfrm>
            <a:off x="1133855" y="4133088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Geringes Risiko</a:t>
            </a:r>
          </a:p>
        </p:txBody>
      </p:sp>
      <p:sp>
        <p:nvSpPr>
          <p:cNvPr id="254" name="Text 17"/>
          <p:cNvSpPr txBox="1"/>
          <p:nvPr/>
        </p:nvSpPr>
        <p:spPr>
          <a:xfrm>
            <a:off x="841247" y="4553711"/>
            <a:ext cx="3026666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Kein Investorendruck, Runway über 12 Monate.</a:t>
            </a:r>
          </a:p>
        </p:txBody>
      </p:sp>
      <p:sp>
        <p:nvSpPr>
          <p:cNvPr id="255" name="Shape 18"/>
          <p:cNvSpPr/>
          <p:nvPr/>
        </p:nvSpPr>
        <p:spPr>
          <a:xfrm>
            <a:off x="4325111" y="4005071"/>
            <a:ext cx="3429001" cy="1874521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Shape 19"/>
          <p:cNvSpPr/>
          <p:nvPr/>
        </p:nvSpPr>
        <p:spPr>
          <a:xfrm>
            <a:off x="4526279" y="4224528"/>
            <a:ext cx="146305" cy="146305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20"/>
          <p:cNvSpPr txBox="1"/>
          <p:nvPr/>
        </p:nvSpPr>
        <p:spPr>
          <a:xfrm>
            <a:off x="4818888" y="4133088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Seltene Kompetenz</a:t>
            </a:r>
          </a:p>
        </p:txBody>
      </p:sp>
      <p:sp>
        <p:nvSpPr>
          <p:cNvPr id="258" name="Text 21"/>
          <p:cNvSpPr txBox="1"/>
          <p:nvPr/>
        </p:nvSpPr>
        <p:spPr>
          <a:xfrm>
            <a:off x="4526279" y="4553711"/>
            <a:ext cx="3026665" cy="319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30 Jahre Software- und Kundenerfahrung in einer Person.</a:t>
            </a:r>
          </a:p>
        </p:txBody>
      </p:sp>
      <p:sp>
        <p:nvSpPr>
          <p:cNvPr id="259" name="Shape 22"/>
          <p:cNvSpPr/>
          <p:nvPr/>
        </p:nvSpPr>
        <p:spPr>
          <a:xfrm>
            <a:off x="8010143" y="4005071"/>
            <a:ext cx="3429001" cy="1874521"/>
          </a:xfrm>
          <a:prstGeom prst="roundRect">
            <a:avLst>
              <a:gd name="adj" fmla="val 3902"/>
            </a:avLst>
          </a:prstGeom>
          <a:solidFill>
            <a:srgbClr val="1A2338"/>
          </a:solidFill>
          <a:ln w="12700">
            <a:solidFill>
              <a:srgbClr val="00D4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23"/>
          <p:cNvSpPr txBox="1"/>
          <p:nvPr/>
        </p:nvSpPr>
        <p:spPr>
          <a:xfrm>
            <a:off x="8238743" y="4733352"/>
            <a:ext cx="29718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400">
                <a:solidFill>
                  <a:srgbClr val="FFFFFF"/>
                </a:solidFill>
              </a:defRPr>
            </a:lvl1pPr>
          </a:lstStyle>
          <a:p>
            <a:pPr/>
            <a:r>
              <a:t>„Die KI-Abteilung, die sich jedes KMU leisten kann.“</a:t>
            </a:r>
          </a:p>
        </p:txBody>
      </p:sp>
      <p:sp>
        <p:nvSpPr>
          <p:cNvPr id="261" name="Text 24"/>
          <p:cNvSpPr txBox="1"/>
          <p:nvPr/>
        </p:nvSpPr>
        <p:spPr>
          <a:xfrm>
            <a:off x="640080" y="656590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PrivateMind</a:t>
            </a:r>
          </a:p>
        </p:txBody>
      </p:sp>
      <p:pic>
        <p:nvPicPr>
          <p:cNvPr id="26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13870" y="6455664"/>
            <a:ext cx="237745" cy="249632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Text 25"/>
          <p:cNvSpPr txBox="1"/>
          <p:nvPr/>
        </p:nvSpPr>
        <p:spPr>
          <a:xfrm>
            <a:off x="10728655" y="6565900"/>
            <a:ext cx="5029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72809A"/>
                </a:solidFill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0"/>
          <p:cNvSpPr/>
          <p:nvPr/>
        </p:nvSpPr>
        <p:spPr>
          <a:xfrm>
            <a:off x="8778240" y="-2011680"/>
            <a:ext cx="5486401" cy="5486401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8B2AF8">
              <a:alpha val="12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2"/>
          <p:cNvSpPr txBox="1"/>
          <p:nvPr/>
        </p:nvSpPr>
        <p:spPr>
          <a:xfrm>
            <a:off x="640080" y="716719"/>
            <a:ext cx="7315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300">
                <a:solidFill>
                  <a:srgbClr val="00D4FF"/>
                </a:solidFill>
              </a:defRPr>
            </a:lvl1pPr>
          </a:lstStyle>
          <a:p>
            <a:pPr/>
            <a:r>
              <a:t>WIR SUCHEN</a:t>
            </a:r>
          </a:p>
        </p:txBody>
      </p:sp>
      <p:sp>
        <p:nvSpPr>
          <p:cNvPr id="268" name="Text 3"/>
          <p:cNvSpPr txBox="1"/>
          <p:nvPr/>
        </p:nvSpPr>
        <p:spPr>
          <a:xfrm>
            <a:off x="640080" y="1100216"/>
            <a:ext cx="10515601" cy="40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Gemeinsam KI zugänglich machen</a:t>
            </a:r>
          </a:p>
        </p:txBody>
      </p:sp>
      <p:sp>
        <p:nvSpPr>
          <p:cNvPr id="269" name="Shape 4"/>
          <p:cNvSpPr/>
          <p:nvPr/>
        </p:nvSpPr>
        <p:spPr>
          <a:xfrm>
            <a:off x="640080" y="1965960"/>
            <a:ext cx="3429001" cy="1600201"/>
          </a:xfrm>
          <a:prstGeom prst="roundRect">
            <a:avLst>
              <a:gd name="adj" fmla="val 4571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Shape 5"/>
          <p:cNvSpPr/>
          <p:nvPr/>
        </p:nvSpPr>
        <p:spPr>
          <a:xfrm>
            <a:off x="841247" y="2185416"/>
            <a:ext cx="146305" cy="146305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6"/>
          <p:cNvSpPr txBox="1"/>
          <p:nvPr/>
        </p:nvSpPr>
        <p:spPr>
          <a:xfrm>
            <a:off x="1133855" y="2093976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Pilotkunden</a:t>
            </a:r>
          </a:p>
        </p:txBody>
      </p:sp>
      <p:sp>
        <p:nvSpPr>
          <p:cNvPr id="272" name="Text 7"/>
          <p:cNvSpPr txBox="1"/>
          <p:nvPr/>
        </p:nvSpPr>
        <p:spPr>
          <a:xfrm>
            <a:off x="841247" y="2514600"/>
            <a:ext cx="302666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Für die ersten Projekte im DACH-Raum.</a:t>
            </a:r>
          </a:p>
        </p:txBody>
      </p:sp>
      <p:sp>
        <p:nvSpPr>
          <p:cNvPr id="273" name="Shape 8"/>
          <p:cNvSpPr/>
          <p:nvPr/>
        </p:nvSpPr>
        <p:spPr>
          <a:xfrm>
            <a:off x="4325111" y="1965960"/>
            <a:ext cx="3429001" cy="1600201"/>
          </a:xfrm>
          <a:prstGeom prst="roundRect">
            <a:avLst>
              <a:gd name="adj" fmla="val 4571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Shape 9"/>
          <p:cNvSpPr/>
          <p:nvPr/>
        </p:nvSpPr>
        <p:spPr>
          <a:xfrm>
            <a:off x="4526279" y="2185416"/>
            <a:ext cx="146305" cy="146305"/>
          </a:xfrm>
          <a:prstGeom prst="ellipse">
            <a:avLst/>
          </a:prstGeom>
          <a:solidFill>
            <a:srgbClr val="8B2A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10"/>
          <p:cNvSpPr txBox="1"/>
          <p:nvPr/>
        </p:nvSpPr>
        <p:spPr>
          <a:xfrm>
            <a:off x="4818888" y="2093976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Vertriebspartner</a:t>
            </a:r>
          </a:p>
        </p:txBody>
      </p:sp>
      <p:sp>
        <p:nvSpPr>
          <p:cNvPr id="276" name="Text 11"/>
          <p:cNvSpPr txBox="1"/>
          <p:nvPr/>
        </p:nvSpPr>
        <p:spPr>
          <a:xfrm>
            <a:off x="4526279" y="2514600"/>
            <a:ext cx="302666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Mit Erfahrung im KMU-Umfeld.</a:t>
            </a:r>
          </a:p>
        </p:txBody>
      </p:sp>
      <p:sp>
        <p:nvSpPr>
          <p:cNvPr id="277" name="Shape 12"/>
          <p:cNvSpPr/>
          <p:nvPr/>
        </p:nvSpPr>
        <p:spPr>
          <a:xfrm>
            <a:off x="8010143" y="1965960"/>
            <a:ext cx="3429001" cy="1600201"/>
          </a:xfrm>
          <a:prstGeom prst="roundRect">
            <a:avLst>
              <a:gd name="adj" fmla="val 4571"/>
            </a:avLst>
          </a:prstGeom>
          <a:solidFill>
            <a:srgbClr val="141B2E"/>
          </a:solidFill>
          <a:ln>
            <a:solidFill>
              <a:srgbClr val="222C4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Shape 13"/>
          <p:cNvSpPr/>
          <p:nvPr/>
        </p:nvSpPr>
        <p:spPr>
          <a:xfrm>
            <a:off x="8211311" y="2185416"/>
            <a:ext cx="146305" cy="146305"/>
          </a:xfrm>
          <a:prstGeom prst="ellipse">
            <a:avLst/>
          </a:prstGeom>
          <a:solidFill>
            <a:srgbClr val="00D4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14"/>
          <p:cNvSpPr txBox="1"/>
          <p:nvPr/>
        </p:nvSpPr>
        <p:spPr>
          <a:xfrm>
            <a:off x="8503919" y="2093976"/>
            <a:ext cx="273405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Mentoren</a:t>
            </a:r>
          </a:p>
        </p:txBody>
      </p:sp>
      <p:sp>
        <p:nvSpPr>
          <p:cNvPr id="280" name="Text 15"/>
          <p:cNvSpPr txBox="1"/>
          <p:nvPr/>
        </p:nvSpPr>
        <p:spPr>
          <a:xfrm>
            <a:off x="8211311" y="2514600"/>
            <a:ext cx="3026666" cy="319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AEBCD1"/>
                </a:solidFill>
              </a:defRPr>
            </a:lvl1pPr>
          </a:lstStyle>
          <a:p>
            <a:pPr/>
            <a:r>
              <a:t>Für strategische Unterstützung (dresden|exists, Silicon Saxony).</a:t>
            </a:r>
          </a:p>
        </p:txBody>
      </p:sp>
      <p:sp>
        <p:nvSpPr>
          <p:cNvPr id="281" name="Shape 16"/>
          <p:cNvSpPr/>
          <p:nvPr/>
        </p:nvSpPr>
        <p:spPr>
          <a:xfrm>
            <a:off x="640080" y="3977640"/>
            <a:ext cx="10911535" cy="1051561"/>
          </a:xfrm>
          <a:prstGeom prst="roundRect">
            <a:avLst>
              <a:gd name="adj" fmla="val 6957"/>
            </a:avLst>
          </a:prstGeom>
          <a:solidFill>
            <a:srgbClr val="1A2338"/>
          </a:solidFill>
          <a:ln>
            <a:solidFill>
              <a:srgbClr val="2A355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17"/>
          <p:cNvSpPr txBox="1"/>
          <p:nvPr/>
        </p:nvSpPr>
        <p:spPr>
          <a:xfrm>
            <a:off x="1005839" y="4382596"/>
            <a:ext cx="10180016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>
                <a:solidFill>
                  <a:srgbClr val="FFFFFF"/>
                </a:solidFill>
              </a:defRPr>
            </a:lvl1pPr>
          </a:lstStyle>
          <a:p>
            <a:pPr/>
            <a:r>
              <a:t>„Die KI-Abteilung, die sich jedes KMU leisten kann.“</a:t>
            </a:r>
          </a:p>
        </p:txBody>
      </p:sp>
      <p:sp>
        <p:nvSpPr>
          <p:cNvPr id="283" name="Text 18"/>
          <p:cNvSpPr txBox="1"/>
          <p:nvPr/>
        </p:nvSpPr>
        <p:spPr>
          <a:xfrm>
            <a:off x="640080" y="5711760"/>
            <a:ext cx="10515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00D4FF"/>
                </a:solidFill>
              </a:defRPr>
            </a:pPr>
            <a:r>
              <a:t>raffael@privatemind.eu</a:t>
            </a:r>
            <a:r>
              <a:rPr b="0">
                <a:solidFill>
                  <a:srgbClr val="AEBCD1"/>
                </a:solidFill>
              </a:rPr>
              <a:t>   ·   privatemind.eu   ·   Dresden, Deutschland</a:t>
            </a:r>
          </a:p>
        </p:txBody>
      </p:sp>
      <p:pic>
        <p:nvPicPr>
          <p:cNvPr id="28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02974" y="6126479"/>
            <a:ext cx="502921" cy="5285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